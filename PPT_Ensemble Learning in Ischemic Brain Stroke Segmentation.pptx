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sldIdLst>
    <p:sldId id="256" r:id="rId2"/>
    <p:sldId id="257" r:id="rId3"/>
    <p:sldId id="258" r:id="rId4"/>
    <p:sldId id="260" r:id="rId5"/>
    <p:sldId id="261" r:id="rId6"/>
    <p:sldId id="278" r:id="rId7"/>
    <p:sldId id="262" r:id="rId8"/>
    <p:sldId id="263" r:id="rId9"/>
    <p:sldId id="264" r:id="rId10"/>
    <p:sldId id="266" r:id="rId11"/>
    <p:sldId id="267" r:id="rId12"/>
    <p:sldId id="268" r:id="rId13"/>
    <p:sldId id="279" r:id="rId14"/>
    <p:sldId id="281" r:id="rId15"/>
    <p:sldId id="280" r:id="rId16"/>
    <p:sldId id="283" r:id="rId17"/>
    <p:sldId id="282" r:id="rId18"/>
    <p:sldId id="284" r:id="rId19"/>
    <p:sldId id="285" r:id="rId20"/>
    <p:sldId id="286" r:id="rId21"/>
    <p:sldId id="269" r:id="rId22"/>
    <p:sldId id="275"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AC201BA-911F-47E8-B1B2-D647325E5125}">
          <p14:sldIdLst>
            <p14:sldId id="256"/>
            <p14:sldId id="257"/>
            <p14:sldId id="258"/>
            <p14:sldId id="260"/>
            <p14:sldId id="261"/>
            <p14:sldId id="278"/>
            <p14:sldId id="262"/>
            <p14:sldId id="263"/>
            <p14:sldId id="264"/>
            <p14:sldId id="266"/>
            <p14:sldId id="267"/>
            <p14:sldId id="268"/>
            <p14:sldId id="279"/>
            <p14:sldId id="281"/>
            <p14:sldId id="280"/>
            <p14:sldId id="283"/>
            <p14:sldId id="282"/>
            <p14:sldId id="284"/>
            <p14:sldId id="285"/>
            <p14:sldId id="286"/>
            <p14:sldId id="269"/>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4413F-63E2-4521-A62E-73DF8B35FB0A}" v="1" dt="2026-02-14T14:50:28.8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69" d="100"/>
          <a:sy n="69" d="100"/>
        </p:scale>
        <p:origin x="122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nith Nagaraju" userId="045d14e543715d77" providerId="LiveId" clId="{B1134DBD-1116-418F-AA0A-D0D067EDD566}"/>
    <pc:docChg chg="modSld">
      <pc:chgData name="Punith Nagaraju" userId="045d14e543715d77" providerId="LiveId" clId="{B1134DBD-1116-418F-AA0A-D0D067EDD566}" dt="2026-02-14T14:50:28.842" v="0"/>
      <pc:docMkLst>
        <pc:docMk/>
      </pc:docMkLst>
      <pc:sldChg chg="delSp modAnim">
        <pc:chgData name="Punith Nagaraju" userId="045d14e543715d77" providerId="LiveId" clId="{B1134DBD-1116-418F-AA0A-D0D067EDD566}" dt="2026-02-14T14:50:28.842" v="0"/>
        <pc:sldMkLst>
          <pc:docMk/>
          <pc:sldMk cId="2668438370" sldId="256"/>
        </pc:sldMkLst>
        <pc:picChg chg="del">
          <ac:chgData name="Punith Nagaraju" userId="045d14e543715d77" providerId="LiveId" clId="{B1134DBD-1116-418F-AA0A-D0D067EDD566}" dt="2026-02-14T14:50:28.842" v="0"/>
          <ac:picMkLst>
            <pc:docMk/>
            <pc:sldMk cId="2668438370" sldId="256"/>
            <ac:picMk id="9" creationId="{221FF278-BF75-28FC-8A1C-B489B3A0AC01}"/>
          </ac:picMkLst>
        </pc:picChg>
      </pc:sldChg>
      <pc:sldChg chg="delSp modAnim">
        <pc:chgData name="Punith Nagaraju" userId="045d14e543715d77" providerId="LiveId" clId="{B1134DBD-1116-418F-AA0A-D0D067EDD566}" dt="2026-02-14T14:50:28.842" v="0"/>
        <pc:sldMkLst>
          <pc:docMk/>
          <pc:sldMk cId="3417465725" sldId="257"/>
        </pc:sldMkLst>
        <pc:picChg chg="del">
          <ac:chgData name="Punith Nagaraju" userId="045d14e543715d77" providerId="LiveId" clId="{B1134DBD-1116-418F-AA0A-D0D067EDD566}" dt="2026-02-14T14:50:28.842" v="0"/>
          <ac:picMkLst>
            <pc:docMk/>
            <pc:sldMk cId="3417465725" sldId="257"/>
            <ac:picMk id="10" creationId="{56B430D2-6E13-D90B-9E27-4CA650D8FE3E}"/>
          </ac:picMkLst>
        </pc:picChg>
      </pc:sldChg>
      <pc:sldChg chg="delSp modAnim">
        <pc:chgData name="Punith Nagaraju" userId="045d14e543715d77" providerId="LiveId" clId="{B1134DBD-1116-418F-AA0A-D0D067EDD566}" dt="2026-02-14T14:50:28.842" v="0"/>
        <pc:sldMkLst>
          <pc:docMk/>
          <pc:sldMk cId="1626205183" sldId="258"/>
        </pc:sldMkLst>
        <pc:picChg chg="del">
          <ac:chgData name="Punith Nagaraju" userId="045d14e543715d77" providerId="LiveId" clId="{B1134DBD-1116-418F-AA0A-D0D067EDD566}" dt="2026-02-14T14:50:28.842" v="0"/>
          <ac:picMkLst>
            <pc:docMk/>
            <pc:sldMk cId="1626205183" sldId="258"/>
            <ac:picMk id="4" creationId="{E3154B81-FE4F-7976-2254-EE9C277C0D3B}"/>
          </ac:picMkLst>
        </pc:picChg>
      </pc:sldChg>
      <pc:sldChg chg="delSp modAnim">
        <pc:chgData name="Punith Nagaraju" userId="045d14e543715d77" providerId="LiveId" clId="{B1134DBD-1116-418F-AA0A-D0D067EDD566}" dt="2026-02-14T14:50:28.842" v="0"/>
        <pc:sldMkLst>
          <pc:docMk/>
          <pc:sldMk cId="970333866" sldId="260"/>
        </pc:sldMkLst>
        <pc:picChg chg="del">
          <ac:chgData name="Punith Nagaraju" userId="045d14e543715d77" providerId="LiveId" clId="{B1134DBD-1116-418F-AA0A-D0D067EDD566}" dt="2026-02-14T14:50:28.842" v="0"/>
          <ac:picMkLst>
            <pc:docMk/>
            <pc:sldMk cId="970333866" sldId="260"/>
            <ac:picMk id="3" creationId="{05364BB8-7602-FB72-D7ED-686362652BC6}"/>
          </ac:picMkLst>
        </pc:picChg>
      </pc:sldChg>
      <pc:sldChg chg="delSp modAnim">
        <pc:chgData name="Punith Nagaraju" userId="045d14e543715d77" providerId="LiveId" clId="{B1134DBD-1116-418F-AA0A-D0D067EDD566}" dt="2026-02-14T14:50:28.842" v="0"/>
        <pc:sldMkLst>
          <pc:docMk/>
          <pc:sldMk cId="583730700" sldId="261"/>
        </pc:sldMkLst>
        <pc:picChg chg="del">
          <ac:chgData name="Punith Nagaraju" userId="045d14e543715d77" providerId="LiveId" clId="{B1134DBD-1116-418F-AA0A-D0D067EDD566}" dt="2026-02-14T14:50:28.842" v="0"/>
          <ac:picMkLst>
            <pc:docMk/>
            <pc:sldMk cId="583730700" sldId="261"/>
            <ac:picMk id="4" creationId="{58FE3539-C083-DC8E-8A95-22D93D6E5114}"/>
          </ac:picMkLst>
        </pc:picChg>
      </pc:sldChg>
      <pc:sldChg chg="delSp modAnim">
        <pc:chgData name="Punith Nagaraju" userId="045d14e543715d77" providerId="LiveId" clId="{B1134DBD-1116-418F-AA0A-D0D067EDD566}" dt="2026-02-14T14:50:28.842" v="0"/>
        <pc:sldMkLst>
          <pc:docMk/>
          <pc:sldMk cId="2680319107" sldId="262"/>
        </pc:sldMkLst>
        <pc:picChg chg="del">
          <ac:chgData name="Punith Nagaraju" userId="045d14e543715d77" providerId="LiveId" clId="{B1134DBD-1116-418F-AA0A-D0D067EDD566}" dt="2026-02-14T14:50:28.842" v="0"/>
          <ac:picMkLst>
            <pc:docMk/>
            <pc:sldMk cId="2680319107" sldId="262"/>
            <ac:picMk id="5" creationId="{950AFA3B-0BA6-7513-9692-ED649ACBE0EF}"/>
          </ac:picMkLst>
        </pc:picChg>
      </pc:sldChg>
      <pc:sldChg chg="delSp modAnim">
        <pc:chgData name="Punith Nagaraju" userId="045d14e543715d77" providerId="LiveId" clId="{B1134DBD-1116-418F-AA0A-D0D067EDD566}" dt="2026-02-14T14:50:28.842" v="0"/>
        <pc:sldMkLst>
          <pc:docMk/>
          <pc:sldMk cId="1535713509" sldId="263"/>
        </pc:sldMkLst>
        <pc:picChg chg="del">
          <ac:chgData name="Punith Nagaraju" userId="045d14e543715d77" providerId="LiveId" clId="{B1134DBD-1116-418F-AA0A-D0D067EDD566}" dt="2026-02-14T14:50:28.842" v="0"/>
          <ac:picMkLst>
            <pc:docMk/>
            <pc:sldMk cId="1535713509" sldId="263"/>
            <ac:picMk id="5" creationId="{14206588-A428-0E38-6A96-E71A69DC4EF3}"/>
          </ac:picMkLst>
        </pc:picChg>
      </pc:sldChg>
      <pc:sldChg chg="delSp modAnim">
        <pc:chgData name="Punith Nagaraju" userId="045d14e543715d77" providerId="LiveId" clId="{B1134DBD-1116-418F-AA0A-D0D067EDD566}" dt="2026-02-14T14:50:28.842" v="0"/>
        <pc:sldMkLst>
          <pc:docMk/>
          <pc:sldMk cId="593026469" sldId="264"/>
        </pc:sldMkLst>
        <pc:picChg chg="del">
          <ac:chgData name="Punith Nagaraju" userId="045d14e543715d77" providerId="LiveId" clId="{B1134DBD-1116-418F-AA0A-D0D067EDD566}" dt="2026-02-14T14:50:28.842" v="0"/>
          <ac:picMkLst>
            <pc:docMk/>
            <pc:sldMk cId="593026469" sldId="264"/>
            <ac:picMk id="4" creationId="{80283507-0C24-CCA5-C84D-135CA28E0F69}"/>
          </ac:picMkLst>
        </pc:picChg>
      </pc:sldChg>
      <pc:sldChg chg="delSp modAnim">
        <pc:chgData name="Punith Nagaraju" userId="045d14e543715d77" providerId="LiveId" clId="{B1134DBD-1116-418F-AA0A-D0D067EDD566}" dt="2026-02-14T14:50:28.842" v="0"/>
        <pc:sldMkLst>
          <pc:docMk/>
          <pc:sldMk cId="2870838749" sldId="266"/>
        </pc:sldMkLst>
        <pc:picChg chg="del">
          <ac:chgData name="Punith Nagaraju" userId="045d14e543715d77" providerId="LiveId" clId="{B1134DBD-1116-418F-AA0A-D0D067EDD566}" dt="2026-02-14T14:50:28.842" v="0"/>
          <ac:picMkLst>
            <pc:docMk/>
            <pc:sldMk cId="2870838749" sldId="266"/>
            <ac:picMk id="4" creationId="{0DD8A9B8-C080-A9DF-D54A-B51376CACF38}"/>
          </ac:picMkLst>
        </pc:picChg>
      </pc:sldChg>
      <pc:sldChg chg="delSp modAnim">
        <pc:chgData name="Punith Nagaraju" userId="045d14e543715d77" providerId="LiveId" clId="{B1134DBD-1116-418F-AA0A-D0D067EDD566}" dt="2026-02-14T14:50:28.842" v="0"/>
        <pc:sldMkLst>
          <pc:docMk/>
          <pc:sldMk cId="1476457684" sldId="267"/>
        </pc:sldMkLst>
        <pc:picChg chg="del">
          <ac:chgData name="Punith Nagaraju" userId="045d14e543715d77" providerId="LiveId" clId="{B1134DBD-1116-418F-AA0A-D0D067EDD566}" dt="2026-02-14T14:50:28.842" v="0"/>
          <ac:picMkLst>
            <pc:docMk/>
            <pc:sldMk cId="1476457684" sldId="267"/>
            <ac:picMk id="5" creationId="{6D64F071-FACC-FD0F-CBEB-A3F3BF9DC055}"/>
          </ac:picMkLst>
        </pc:picChg>
      </pc:sldChg>
      <pc:sldChg chg="delSp modAnim">
        <pc:chgData name="Punith Nagaraju" userId="045d14e543715d77" providerId="LiveId" clId="{B1134DBD-1116-418F-AA0A-D0D067EDD566}" dt="2026-02-14T14:50:28.842" v="0"/>
        <pc:sldMkLst>
          <pc:docMk/>
          <pc:sldMk cId="3351942949" sldId="268"/>
        </pc:sldMkLst>
        <pc:picChg chg="del">
          <ac:chgData name="Punith Nagaraju" userId="045d14e543715d77" providerId="LiveId" clId="{B1134DBD-1116-418F-AA0A-D0D067EDD566}" dt="2026-02-14T14:50:28.842" v="0"/>
          <ac:picMkLst>
            <pc:docMk/>
            <pc:sldMk cId="3351942949" sldId="268"/>
            <ac:picMk id="6" creationId="{DC52D052-4A66-D1AE-E847-1D8B59EF79B1}"/>
          </ac:picMkLst>
        </pc:picChg>
      </pc:sldChg>
      <pc:sldChg chg="delSp modAnim">
        <pc:chgData name="Punith Nagaraju" userId="045d14e543715d77" providerId="LiveId" clId="{B1134DBD-1116-418F-AA0A-D0D067EDD566}" dt="2026-02-14T14:50:28.842" v="0"/>
        <pc:sldMkLst>
          <pc:docMk/>
          <pc:sldMk cId="3608761944" sldId="269"/>
        </pc:sldMkLst>
        <pc:picChg chg="del">
          <ac:chgData name="Punith Nagaraju" userId="045d14e543715d77" providerId="LiveId" clId="{B1134DBD-1116-418F-AA0A-D0D067EDD566}" dt="2026-02-14T14:50:28.842" v="0"/>
          <ac:picMkLst>
            <pc:docMk/>
            <pc:sldMk cId="3608761944" sldId="269"/>
            <ac:picMk id="4" creationId="{41756D9A-E1CD-9990-2D6E-49D7964679AA}"/>
          </ac:picMkLst>
        </pc:picChg>
      </pc:sldChg>
      <pc:sldChg chg="delSp modAnim">
        <pc:chgData name="Punith Nagaraju" userId="045d14e543715d77" providerId="LiveId" clId="{B1134DBD-1116-418F-AA0A-D0D067EDD566}" dt="2026-02-14T14:50:28.842" v="0"/>
        <pc:sldMkLst>
          <pc:docMk/>
          <pc:sldMk cId="4042312832" sldId="275"/>
        </pc:sldMkLst>
        <pc:picChg chg="del">
          <ac:chgData name="Punith Nagaraju" userId="045d14e543715d77" providerId="LiveId" clId="{B1134DBD-1116-418F-AA0A-D0D067EDD566}" dt="2026-02-14T14:50:28.842" v="0"/>
          <ac:picMkLst>
            <pc:docMk/>
            <pc:sldMk cId="4042312832" sldId="275"/>
            <ac:picMk id="4" creationId="{EB77B617-4891-2E94-A1D9-4658CCBDEABF}"/>
          </ac:picMkLst>
        </pc:picChg>
      </pc:sldChg>
      <pc:sldChg chg="delSp modAnim">
        <pc:chgData name="Punith Nagaraju" userId="045d14e543715d77" providerId="LiveId" clId="{B1134DBD-1116-418F-AA0A-D0D067EDD566}" dt="2026-02-14T14:50:28.842" v="0"/>
        <pc:sldMkLst>
          <pc:docMk/>
          <pc:sldMk cId="3292920741" sldId="276"/>
        </pc:sldMkLst>
        <pc:picChg chg="del">
          <ac:chgData name="Punith Nagaraju" userId="045d14e543715d77" providerId="LiveId" clId="{B1134DBD-1116-418F-AA0A-D0D067EDD566}" dt="2026-02-14T14:50:28.842" v="0"/>
          <ac:picMkLst>
            <pc:docMk/>
            <pc:sldMk cId="3292920741" sldId="276"/>
            <ac:picMk id="2" creationId="{073EBD15-1612-746E-C488-E5BE6CCAADA0}"/>
          </ac:picMkLst>
        </pc:picChg>
      </pc:sldChg>
      <pc:sldChg chg="delSp modAnim">
        <pc:chgData name="Punith Nagaraju" userId="045d14e543715d77" providerId="LiveId" clId="{B1134DBD-1116-418F-AA0A-D0D067EDD566}" dt="2026-02-14T14:50:28.842" v="0"/>
        <pc:sldMkLst>
          <pc:docMk/>
          <pc:sldMk cId="1332729960" sldId="277"/>
        </pc:sldMkLst>
        <pc:picChg chg="del">
          <ac:chgData name="Punith Nagaraju" userId="045d14e543715d77" providerId="LiveId" clId="{B1134DBD-1116-418F-AA0A-D0D067EDD566}" dt="2026-02-14T14:50:28.842" v="0"/>
          <ac:picMkLst>
            <pc:docMk/>
            <pc:sldMk cId="1332729960" sldId="277"/>
            <ac:picMk id="2" creationId="{215C0C0E-CBBB-4AD1-24D7-BFA79819900D}"/>
          </ac:picMkLst>
        </pc:picChg>
      </pc:sldChg>
      <pc:sldChg chg="delSp modAnim">
        <pc:chgData name="Punith Nagaraju" userId="045d14e543715d77" providerId="LiveId" clId="{B1134DBD-1116-418F-AA0A-D0D067EDD566}" dt="2026-02-14T14:50:28.842" v="0"/>
        <pc:sldMkLst>
          <pc:docMk/>
          <pc:sldMk cId="1572666106" sldId="278"/>
        </pc:sldMkLst>
        <pc:picChg chg="del">
          <ac:chgData name="Punith Nagaraju" userId="045d14e543715d77" providerId="LiveId" clId="{B1134DBD-1116-418F-AA0A-D0D067EDD566}" dt="2026-02-14T14:50:28.842" v="0"/>
          <ac:picMkLst>
            <pc:docMk/>
            <pc:sldMk cId="1572666106" sldId="278"/>
            <ac:picMk id="4" creationId="{23B9D6FF-540E-C76A-A35F-A1F2F2BF137C}"/>
          </ac:picMkLst>
        </pc:picChg>
      </pc:sldChg>
      <pc:sldChg chg="delSp modAnim">
        <pc:chgData name="Punith Nagaraju" userId="045d14e543715d77" providerId="LiveId" clId="{B1134DBD-1116-418F-AA0A-D0D067EDD566}" dt="2026-02-14T14:50:28.842" v="0"/>
        <pc:sldMkLst>
          <pc:docMk/>
          <pc:sldMk cId="3229414348" sldId="279"/>
        </pc:sldMkLst>
        <pc:picChg chg="del">
          <ac:chgData name="Punith Nagaraju" userId="045d14e543715d77" providerId="LiveId" clId="{B1134DBD-1116-418F-AA0A-D0D067EDD566}" dt="2026-02-14T14:50:28.842" v="0"/>
          <ac:picMkLst>
            <pc:docMk/>
            <pc:sldMk cId="3229414348" sldId="279"/>
            <ac:picMk id="4" creationId="{8A090756-9840-D7B3-8C52-5B6CF611655E}"/>
          </ac:picMkLst>
        </pc:picChg>
      </pc:sldChg>
      <pc:sldChg chg="delSp modAnim">
        <pc:chgData name="Punith Nagaraju" userId="045d14e543715d77" providerId="LiveId" clId="{B1134DBD-1116-418F-AA0A-D0D067EDD566}" dt="2026-02-14T14:50:28.842" v="0"/>
        <pc:sldMkLst>
          <pc:docMk/>
          <pc:sldMk cId="1727572755" sldId="280"/>
        </pc:sldMkLst>
        <pc:picChg chg="del">
          <ac:chgData name="Punith Nagaraju" userId="045d14e543715d77" providerId="LiveId" clId="{B1134DBD-1116-418F-AA0A-D0D067EDD566}" dt="2026-02-14T14:50:28.842" v="0"/>
          <ac:picMkLst>
            <pc:docMk/>
            <pc:sldMk cId="1727572755" sldId="280"/>
            <ac:picMk id="2" creationId="{58FCBE7F-0E2C-FBCB-410A-0E7E8BBC8EE7}"/>
          </ac:picMkLst>
        </pc:picChg>
      </pc:sldChg>
      <pc:sldChg chg="delSp modAnim">
        <pc:chgData name="Punith Nagaraju" userId="045d14e543715d77" providerId="LiveId" clId="{B1134DBD-1116-418F-AA0A-D0D067EDD566}" dt="2026-02-14T14:50:28.842" v="0"/>
        <pc:sldMkLst>
          <pc:docMk/>
          <pc:sldMk cId="1061192148" sldId="281"/>
        </pc:sldMkLst>
        <pc:picChg chg="del">
          <ac:chgData name="Punith Nagaraju" userId="045d14e543715d77" providerId="LiveId" clId="{B1134DBD-1116-418F-AA0A-D0D067EDD566}" dt="2026-02-14T14:50:28.842" v="0"/>
          <ac:picMkLst>
            <pc:docMk/>
            <pc:sldMk cId="1061192148" sldId="281"/>
            <ac:picMk id="2" creationId="{64AAECCE-DDE3-2F1D-227A-AF10DA48E09F}"/>
          </ac:picMkLst>
        </pc:picChg>
      </pc:sldChg>
      <pc:sldChg chg="delSp modAnim">
        <pc:chgData name="Punith Nagaraju" userId="045d14e543715d77" providerId="LiveId" clId="{B1134DBD-1116-418F-AA0A-D0D067EDD566}" dt="2026-02-14T14:50:28.842" v="0"/>
        <pc:sldMkLst>
          <pc:docMk/>
          <pc:sldMk cId="999905535" sldId="282"/>
        </pc:sldMkLst>
        <pc:picChg chg="del">
          <ac:chgData name="Punith Nagaraju" userId="045d14e543715d77" providerId="LiveId" clId="{B1134DBD-1116-418F-AA0A-D0D067EDD566}" dt="2026-02-14T14:50:28.842" v="0"/>
          <ac:picMkLst>
            <pc:docMk/>
            <pc:sldMk cId="999905535" sldId="282"/>
            <ac:picMk id="2" creationId="{CA531B48-3D0D-620D-802C-F790EA223C37}"/>
          </ac:picMkLst>
        </pc:picChg>
      </pc:sldChg>
      <pc:sldChg chg="delSp modAnim">
        <pc:chgData name="Punith Nagaraju" userId="045d14e543715d77" providerId="LiveId" clId="{B1134DBD-1116-418F-AA0A-D0D067EDD566}" dt="2026-02-14T14:50:28.842" v="0"/>
        <pc:sldMkLst>
          <pc:docMk/>
          <pc:sldMk cId="867126902" sldId="283"/>
        </pc:sldMkLst>
        <pc:picChg chg="del">
          <ac:chgData name="Punith Nagaraju" userId="045d14e543715d77" providerId="LiveId" clId="{B1134DBD-1116-418F-AA0A-D0D067EDD566}" dt="2026-02-14T14:50:28.842" v="0"/>
          <ac:picMkLst>
            <pc:docMk/>
            <pc:sldMk cId="867126902" sldId="283"/>
            <ac:picMk id="4" creationId="{23711E07-B1B4-3A5E-EAA9-BDC08F1C4D7A}"/>
          </ac:picMkLst>
        </pc:picChg>
      </pc:sldChg>
      <pc:sldChg chg="delSp modAnim">
        <pc:chgData name="Punith Nagaraju" userId="045d14e543715d77" providerId="LiveId" clId="{B1134DBD-1116-418F-AA0A-D0D067EDD566}" dt="2026-02-14T14:50:28.842" v="0"/>
        <pc:sldMkLst>
          <pc:docMk/>
          <pc:sldMk cId="3766462087" sldId="284"/>
        </pc:sldMkLst>
        <pc:picChg chg="del">
          <ac:chgData name="Punith Nagaraju" userId="045d14e543715d77" providerId="LiveId" clId="{B1134DBD-1116-418F-AA0A-D0D067EDD566}" dt="2026-02-14T14:50:28.842" v="0"/>
          <ac:picMkLst>
            <pc:docMk/>
            <pc:sldMk cId="3766462087" sldId="284"/>
            <ac:picMk id="5" creationId="{E8388C4B-2160-4949-DB70-D0257C389CFF}"/>
          </ac:picMkLst>
        </pc:picChg>
      </pc:sldChg>
      <pc:sldChg chg="delSp modAnim">
        <pc:chgData name="Punith Nagaraju" userId="045d14e543715d77" providerId="LiveId" clId="{B1134DBD-1116-418F-AA0A-D0D067EDD566}" dt="2026-02-14T14:50:28.842" v="0"/>
        <pc:sldMkLst>
          <pc:docMk/>
          <pc:sldMk cId="555460126" sldId="285"/>
        </pc:sldMkLst>
        <pc:picChg chg="del">
          <ac:chgData name="Punith Nagaraju" userId="045d14e543715d77" providerId="LiveId" clId="{B1134DBD-1116-418F-AA0A-D0D067EDD566}" dt="2026-02-14T14:50:28.842" v="0"/>
          <ac:picMkLst>
            <pc:docMk/>
            <pc:sldMk cId="555460126" sldId="285"/>
            <ac:picMk id="4" creationId="{6CFE5A90-225C-91D2-92A6-2F36478C4F7E}"/>
          </ac:picMkLst>
        </pc:picChg>
      </pc:sldChg>
      <pc:sldChg chg="delSp modAnim">
        <pc:chgData name="Punith Nagaraju" userId="045d14e543715d77" providerId="LiveId" clId="{B1134DBD-1116-418F-AA0A-D0D067EDD566}" dt="2026-02-14T14:50:28.842" v="0"/>
        <pc:sldMkLst>
          <pc:docMk/>
          <pc:sldMk cId="766606050" sldId="286"/>
        </pc:sldMkLst>
        <pc:picChg chg="del">
          <ac:chgData name="Punith Nagaraju" userId="045d14e543715d77" providerId="LiveId" clId="{B1134DBD-1116-418F-AA0A-D0D067EDD566}" dt="2026-02-14T14:50:28.842" v="0"/>
          <ac:picMkLst>
            <pc:docMk/>
            <pc:sldMk cId="766606050" sldId="286"/>
            <ac:picMk id="5" creationId="{FE1AE82F-AE77-03A7-17C9-EBA7B5277C9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6A11C-7137-9E80-88D6-136A55833C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CEE0946-640D-CB00-9906-6A864DC91B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2C8D93-0520-A259-9B71-6C92CABD93C5}"/>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5" name="Footer Placeholder 4">
            <a:extLst>
              <a:ext uri="{FF2B5EF4-FFF2-40B4-BE49-F238E27FC236}">
                <a16:creationId xmlns:a16="http://schemas.microsoft.com/office/drawing/2014/main" id="{6BDA12A6-A292-F967-422D-3CD0C59C12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59CBE9-7453-1C26-D32C-0BAEBB54AB6D}"/>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900859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BE86-DCF8-F10B-CDC5-F3D081E356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915496-3773-98B9-1576-DC03C7DDAE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32231B-2712-1BFE-8945-A07E3C353B79}"/>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5" name="Footer Placeholder 4">
            <a:extLst>
              <a:ext uri="{FF2B5EF4-FFF2-40B4-BE49-F238E27FC236}">
                <a16:creationId xmlns:a16="http://schemas.microsoft.com/office/drawing/2014/main" id="{E4F083A0-8DD9-E0AB-A8D1-A17107CBA4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8B149C-07CB-ED43-ED0A-3D66C57E34B7}"/>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968188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F1DE-9403-597F-F6D0-0A0998FF21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ACB4456-0438-747B-FEC8-41AF7C0476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306877-7FD0-5E4F-4D6E-24E0022270B6}"/>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5" name="Footer Placeholder 4">
            <a:extLst>
              <a:ext uri="{FF2B5EF4-FFF2-40B4-BE49-F238E27FC236}">
                <a16:creationId xmlns:a16="http://schemas.microsoft.com/office/drawing/2014/main" id="{D9FF0162-2E83-2899-F3D0-4AF6D946C7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DC9781-F76F-150C-E01F-B95F5E8EE5A7}"/>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4112773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FF598-165A-2DFD-9EEE-C9DC74C90B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D86413-93A8-482C-027B-E18127294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6F1B82-0E2A-12DC-E27A-E9E9B0BD1D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B9F984-3C7B-4A19-F297-8E9E0921BC7D}"/>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6" name="Footer Placeholder 5">
            <a:extLst>
              <a:ext uri="{FF2B5EF4-FFF2-40B4-BE49-F238E27FC236}">
                <a16:creationId xmlns:a16="http://schemas.microsoft.com/office/drawing/2014/main" id="{90FC1572-C008-C978-A265-D33682152E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8E1B67-B0B6-19BE-28EA-4F9FC52A3B4A}"/>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1748107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AC664-A103-4D2B-C89B-98169D7AE0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AC50BE-01A3-B721-116D-F66FE2CFF5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EB3EAE-3C70-0F3C-D9E5-9077C9FF74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DCD839-5925-66F1-2051-7072245D20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8D135D-43A0-F8C0-6041-231F79B1CE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F15612-F6B1-8C30-A7FC-FB5248E1BB96}"/>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8" name="Footer Placeholder 7">
            <a:extLst>
              <a:ext uri="{FF2B5EF4-FFF2-40B4-BE49-F238E27FC236}">
                <a16:creationId xmlns:a16="http://schemas.microsoft.com/office/drawing/2014/main" id="{08FDB768-BF99-C55A-88B6-8AF07BD7261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277E86-E553-FA28-F6A7-D147F61638B6}"/>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3853745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DDA12-F230-DC16-87E5-F8CF2BFFF5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70974B-59BE-375D-EBFC-CBDEAE9E2B18}"/>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4" name="Footer Placeholder 3">
            <a:extLst>
              <a:ext uri="{FF2B5EF4-FFF2-40B4-BE49-F238E27FC236}">
                <a16:creationId xmlns:a16="http://schemas.microsoft.com/office/drawing/2014/main" id="{20622CC1-81C1-DA5C-A798-B472A5C235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79F12B2-566A-D938-45A6-7F44DB7CAE26}"/>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264611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D512B1-FEF8-F4C3-A65E-D576C9FC022D}"/>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3" name="Footer Placeholder 2">
            <a:extLst>
              <a:ext uri="{FF2B5EF4-FFF2-40B4-BE49-F238E27FC236}">
                <a16:creationId xmlns:a16="http://schemas.microsoft.com/office/drawing/2014/main" id="{6D88E373-5FFF-1C7F-A85C-A0DD26D28D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62F5329-E96C-8350-978C-A3E68A37238C}"/>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362738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E28D8-04B8-1E6B-B586-FEAED94A77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0899721-18C8-CA53-631B-B421DD1FFF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3282FA-7C03-DD95-428F-BF800E8DFE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0FCA37-7FD8-C23B-01FB-56A8BB2BB827}"/>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6" name="Footer Placeholder 5">
            <a:extLst>
              <a:ext uri="{FF2B5EF4-FFF2-40B4-BE49-F238E27FC236}">
                <a16:creationId xmlns:a16="http://schemas.microsoft.com/office/drawing/2014/main" id="{F785B165-786B-706D-9F26-9879F40B67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0622AB-2172-F478-5886-441B8F526E82}"/>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2861449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E9805-C3DD-4B57-F8F4-57FBB89A4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C71536-DB1E-E40E-77CF-8E0EE9DA1A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49354F-C2E2-EDBE-B65B-92E49969A1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EE33F6-F2C3-7B48-B22A-71DE03B09892}"/>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6" name="Footer Placeholder 5">
            <a:extLst>
              <a:ext uri="{FF2B5EF4-FFF2-40B4-BE49-F238E27FC236}">
                <a16:creationId xmlns:a16="http://schemas.microsoft.com/office/drawing/2014/main" id="{E68E40CD-04A1-E9F1-1C6D-D0C812E603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B0CE62-6FDD-E32E-3824-43853CCD944C}"/>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2366223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D01AB-E575-2D12-A784-EC2D3EBEC4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A37330-E9DF-ADD7-9FAA-7982EEEFB8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0A5A2A-C747-C148-5A0E-A53730FD3DCA}"/>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5" name="Footer Placeholder 4">
            <a:extLst>
              <a:ext uri="{FF2B5EF4-FFF2-40B4-BE49-F238E27FC236}">
                <a16:creationId xmlns:a16="http://schemas.microsoft.com/office/drawing/2014/main" id="{A0F8185C-0724-1B55-0C27-EF0CCA9AD0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E14556-68C6-46F6-EC67-C7E8C0118033}"/>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4063939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B63DAD-1EE4-3693-687C-E11E70188A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392F9C-5A2E-7929-DA67-CB0C501865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A3CA8D-52F6-2CCD-4CD3-9D62271F7AD0}"/>
              </a:ext>
            </a:extLst>
          </p:cNvPr>
          <p:cNvSpPr>
            <a:spLocks noGrp="1"/>
          </p:cNvSpPr>
          <p:nvPr>
            <p:ph type="dt" sz="half" idx="10"/>
          </p:nvPr>
        </p:nvSpPr>
        <p:spPr/>
        <p:txBody>
          <a:bodyPr/>
          <a:lstStyle/>
          <a:p>
            <a:fld id="{4830769D-A6E3-44F9-8F91-60B5D6F6F89B}" type="datetimeFigureOut">
              <a:rPr lang="en-IN" smtClean="0"/>
              <a:t>14-02-2026</a:t>
            </a:fld>
            <a:endParaRPr lang="en-IN"/>
          </a:p>
        </p:txBody>
      </p:sp>
      <p:sp>
        <p:nvSpPr>
          <p:cNvPr id="5" name="Footer Placeholder 4">
            <a:extLst>
              <a:ext uri="{FF2B5EF4-FFF2-40B4-BE49-F238E27FC236}">
                <a16:creationId xmlns:a16="http://schemas.microsoft.com/office/drawing/2014/main" id="{896D3549-C02B-8ED2-98FA-378247D5FE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13B145-D7F7-6BA9-27EC-E15C65726D9F}"/>
              </a:ext>
            </a:extLst>
          </p:cNvPr>
          <p:cNvSpPr>
            <a:spLocks noGrp="1"/>
          </p:cNvSpPr>
          <p:nvPr>
            <p:ph type="sldNum" sz="quarter" idx="12"/>
          </p:nvPr>
        </p:nvSpPr>
        <p:spPr/>
        <p:txBody>
          <a:bodyPr/>
          <a:lstStyle/>
          <a:p>
            <a:fld id="{899AFBE3-3020-4132-BF9A-84188AAEE670}" type="slidenum">
              <a:rPr lang="en-IN" smtClean="0"/>
              <a:t>‹#›</a:t>
            </a:fld>
            <a:endParaRPr lang="en-IN"/>
          </a:p>
        </p:txBody>
      </p:sp>
    </p:spTree>
    <p:extLst>
      <p:ext uri="{BB962C8B-B14F-4D97-AF65-F5344CB8AC3E}">
        <p14:creationId xmlns:p14="http://schemas.microsoft.com/office/powerpoint/2010/main" val="1384845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BCD713-3191-562E-DB73-6A4BF66745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9F7DD8-9B7C-4CF4-E6FE-38236BAD7B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84612A-D1D1-4C95-08B0-AE36401E7F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30769D-A6E3-44F9-8F91-60B5D6F6F89B}" type="datetimeFigureOut">
              <a:rPr lang="en-IN" smtClean="0"/>
              <a:t>14-02-2026</a:t>
            </a:fld>
            <a:endParaRPr lang="en-IN"/>
          </a:p>
        </p:txBody>
      </p:sp>
      <p:sp>
        <p:nvSpPr>
          <p:cNvPr id="5" name="Footer Placeholder 4">
            <a:extLst>
              <a:ext uri="{FF2B5EF4-FFF2-40B4-BE49-F238E27FC236}">
                <a16:creationId xmlns:a16="http://schemas.microsoft.com/office/drawing/2014/main" id="{B602C1A7-D908-5A77-8A3A-B2E39F2F2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EE53E5-27F5-BF45-8A10-C3005BEC7E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9AFBE3-3020-4132-BF9A-84188AAEE670}" type="slidenum">
              <a:rPr lang="en-IN" smtClean="0"/>
              <a:t>‹#›</a:t>
            </a:fld>
            <a:endParaRPr lang="en-IN"/>
          </a:p>
        </p:txBody>
      </p:sp>
    </p:spTree>
    <p:extLst>
      <p:ext uri="{BB962C8B-B14F-4D97-AF65-F5344CB8AC3E}">
        <p14:creationId xmlns:p14="http://schemas.microsoft.com/office/powerpoint/2010/main" val="3562185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Transformer_" TargetMode="External"/><Relationship Id="rId2" Type="http://schemas.openxmlformats.org/officeDocument/2006/relationships/hyperlink" Target="https://en.wikipedia.org/wiki/Attention_" TargetMode="Externa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CB340-E9A6-2F42-7B9B-99EB986D517A}"/>
              </a:ext>
            </a:extLst>
          </p:cNvPr>
          <p:cNvSpPr>
            <a:spLocks noGrp="1"/>
          </p:cNvSpPr>
          <p:nvPr>
            <p:ph type="ctrTitle"/>
          </p:nvPr>
        </p:nvSpPr>
        <p:spPr>
          <a:xfrm>
            <a:off x="1828800" y="2820039"/>
            <a:ext cx="8324088" cy="843597"/>
          </a:xfrm>
        </p:spPr>
        <p:txBody>
          <a:bodyPr>
            <a:normAutofit fontScale="90000"/>
          </a:bodyPr>
          <a:lstStyle/>
          <a:p>
            <a:br>
              <a:rPr lang="en-US" sz="2800" u="sng" dirty="0"/>
            </a:br>
            <a:br>
              <a:rPr lang="en-US" sz="2800" u="sng" dirty="0"/>
            </a:br>
            <a:br>
              <a:rPr lang="en-US" sz="2800" u="sng" dirty="0"/>
            </a:br>
            <a:r>
              <a:rPr lang="en-GB" sz="2800" u="sng" dirty="0"/>
              <a:t>Review on Ensemble techniques in Computer Vision for segmentation</a:t>
            </a:r>
            <a:br>
              <a:rPr lang="en-IN" dirty="0"/>
            </a:br>
            <a:br>
              <a:rPr lang="en-US" sz="2800" u="sng" dirty="0"/>
            </a:br>
            <a:r>
              <a:rPr lang="en-US" sz="2800" u="sng" dirty="0"/>
              <a:t>by</a:t>
            </a:r>
            <a:br>
              <a:rPr lang="en-US" sz="2800" u="sng" dirty="0"/>
            </a:br>
            <a:br>
              <a:rPr lang="en-US" sz="2800" u="sng" dirty="0"/>
            </a:br>
            <a:br>
              <a:rPr lang="en-US" sz="2800" u="sng" dirty="0"/>
            </a:br>
            <a:r>
              <a:rPr lang="en-US" sz="2800" dirty="0"/>
              <a:t>PUNITH N</a:t>
            </a:r>
            <a:br>
              <a:rPr lang="en-US" sz="2800" dirty="0"/>
            </a:br>
            <a:r>
              <a:rPr lang="en-US" sz="2800" dirty="0"/>
              <a:t>Student ID : 1135354</a:t>
            </a:r>
            <a:br>
              <a:rPr lang="en-US" sz="2800" dirty="0"/>
            </a:br>
            <a:r>
              <a:rPr lang="en-US" sz="2800" dirty="0"/>
              <a:t>Email : P.N@2024.ljmu.ac.uk</a:t>
            </a:r>
            <a:endParaRPr lang="en-IN" sz="2800" dirty="0"/>
          </a:p>
        </p:txBody>
      </p:sp>
      <p:pic>
        <p:nvPicPr>
          <p:cNvPr id="1026" name="Picture 2" descr="GitHub - ezequieldlrosa/isles22">
            <a:extLst>
              <a:ext uri="{FF2B5EF4-FFF2-40B4-BE49-F238E27FC236}">
                <a16:creationId xmlns:a16="http://schemas.microsoft.com/office/drawing/2014/main" id="{52E3C1F5-03DA-0574-7367-78F99A5AE1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3541" y="4139822"/>
            <a:ext cx="4657344" cy="168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8438370"/>
      </p:ext>
    </p:extLst>
  </p:cSld>
  <p:clrMapOvr>
    <a:masterClrMapping/>
  </p:clrMapOvr>
  <mc:AlternateContent xmlns:mc="http://schemas.openxmlformats.org/markup-compatibility/2006" xmlns:p14="http://schemas.microsoft.com/office/powerpoint/2010/main">
    <mc:Choice Requires="p14">
      <p:transition spd="slow" p14:dur="2000" advTm="16475"/>
    </mc:Choice>
    <mc:Fallback xmlns="">
      <p:transition spd="slow" advTm="164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E0F64-E5C3-E99D-39AF-4A3B69032E57}"/>
              </a:ext>
            </a:extLst>
          </p:cNvPr>
          <p:cNvSpPr>
            <a:spLocks noGrp="1"/>
          </p:cNvSpPr>
          <p:nvPr>
            <p:ph type="title"/>
          </p:nvPr>
        </p:nvSpPr>
        <p:spPr>
          <a:xfrm>
            <a:off x="838200" y="365125"/>
            <a:ext cx="10145751" cy="638485"/>
          </a:xfrm>
        </p:spPr>
        <p:txBody>
          <a:bodyPr>
            <a:noAutofit/>
          </a:bodyPr>
          <a:lstStyle/>
          <a:p>
            <a:pPr algn="ctr"/>
            <a:r>
              <a:rPr lang="en-IN" sz="2400" b="1" i="0" dirty="0">
                <a:solidFill>
                  <a:srgbClr val="091E42"/>
                </a:solidFill>
                <a:effectLst/>
                <a:latin typeface="Times New Roman" panose="02020603050405020304" pitchFamily="18" charset="0"/>
                <a:cs typeface="Times New Roman" panose="02020603050405020304" pitchFamily="18" charset="0"/>
              </a:rPr>
              <a:t>Introduction and Background</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24187B-A444-7255-C580-D4A46A297B05}"/>
              </a:ext>
            </a:extLst>
          </p:cNvPr>
          <p:cNvSpPr>
            <a:spLocks noGrp="1"/>
          </p:cNvSpPr>
          <p:nvPr>
            <p:ph idx="1"/>
          </p:nvPr>
        </p:nvSpPr>
        <p:spPr>
          <a:xfrm>
            <a:off x="653275" y="1003610"/>
            <a:ext cx="11597992" cy="4836183"/>
          </a:xfrm>
        </p:spPr>
        <p:txBody>
          <a:bodyPr>
            <a:noAutofit/>
          </a:bodyPr>
          <a:lstStyle/>
          <a:p>
            <a:pPr marL="0" indent="0" algn="just">
              <a:lnSpc>
                <a:spcPct val="100000"/>
              </a:lnSpc>
              <a:buNone/>
            </a:pPr>
            <a:r>
              <a:rPr lang="en-GB" sz="2000" dirty="0">
                <a:latin typeface="Times New Roman" panose="02020603050405020304" pitchFamily="18" charset="0"/>
                <a:cs typeface="Times New Roman" panose="02020603050405020304" pitchFamily="18" charset="0"/>
              </a:rPr>
              <a:t>In</a:t>
            </a:r>
            <a:r>
              <a:rPr lang="en-IN" sz="2000" dirty="0">
                <a:latin typeface="Times New Roman" panose="02020603050405020304" pitchFamily="18" charset="0"/>
                <a:cs typeface="Times New Roman" panose="02020603050405020304" pitchFamily="18" charset="0"/>
              </a:rPr>
              <a:t> Computer vision, image segmentation is core process, teaching machines to comprehend images at a pixel level.</a:t>
            </a:r>
          </a:p>
          <a:p>
            <a:pPr marL="0" indent="0" algn="just">
              <a:lnSpc>
                <a:spcPct val="100000"/>
              </a:lnSpc>
              <a:buNone/>
            </a:pPr>
            <a:r>
              <a:rPr lang="en-GB" sz="2000" dirty="0">
                <a:latin typeface="Times New Roman" panose="02020603050405020304" pitchFamily="18" charset="0"/>
                <a:cs typeface="Times New Roman" panose="02020603050405020304" pitchFamily="18" charset="0"/>
              </a:rPr>
              <a:t>Ensemble learning is basically the idea of "two heads are better than one" applied to machine learning. take multiple simple algorithms and have them "vote" on a result</a:t>
            </a:r>
            <a:endParaRPr lang="en-IN"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dirty="0">
                <a:latin typeface="Times New Roman" panose="02020603050405020304" pitchFamily="18" charset="0"/>
                <a:cs typeface="Times New Roman" panose="02020603050405020304" pitchFamily="18" charset="0"/>
              </a:rPr>
              <a:t>An Ischemic Brain stroke is an event caused by a blockage in the blood flow to the regions of the brain. ​This personal experience after an accident has fueled my passion to choose medical image segmentation topic. </a:t>
            </a:r>
          </a:p>
        </p:txBody>
      </p:sp>
      <p:pic>
        <p:nvPicPr>
          <p:cNvPr id="4" name="Picture 3">
            <a:extLst>
              <a:ext uri="{FF2B5EF4-FFF2-40B4-BE49-F238E27FC236}">
                <a16:creationId xmlns:a16="http://schemas.microsoft.com/office/drawing/2014/main" id="{6F1EFF2F-E057-95E3-7113-771C1102A5E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60133" y="3329078"/>
            <a:ext cx="6198341" cy="2895600"/>
          </a:xfrm>
          <a:prstGeom prst="rect">
            <a:avLst/>
          </a:prstGeom>
          <a:noFill/>
          <a:ln>
            <a:noFill/>
          </a:ln>
        </p:spPr>
      </p:pic>
    </p:spTree>
    <p:extLst>
      <p:ext uri="{BB962C8B-B14F-4D97-AF65-F5344CB8AC3E}">
        <p14:creationId xmlns:p14="http://schemas.microsoft.com/office/powerpoint/2010/main" val="3417465725"/>
      </p:ext>
    </p:extLst>
  </p:cSld>
  <p:clrMapOvr>
    <a:masterClrMapping/>
  </p:clrMapOvr>
  <mc:AlternateContent xmlns:mc="http://schemas.openxmlformats.org/markup-compatibility/2006" xmlns:p14="http://schemas.microsoft.com/office/powerpoint/2010/main">
    <mc:Choice Requires="p14">
      <p:transition spd="slow" p14:dur="2000" advTm="35831"/>
    </mc:Choice>
    <mc:Fallback xmlns="">
      <p:transition spd="slow" advTm="3583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8E1713-B8B1-EBAE-10F6-98A5D65BA759}"/>
              </a:ext>
            </a:extLst>
          </p:cNvPr>
          <p:cNvSpPr>
            <a:spLocks noGrp="1"/>
          </p:cNvSpPr>
          <p:nvPr>
            <p:ph idx="1"/>
          </p:nvPr>
        </p:nvSpPr>
        <p:spPr>
          <a:xfrm>
            <a:off x="349251" y="565150"/>
            <a:ext cx="11643783" cy="5727700"/>
          </a:xfrm>
        </p:spPr>
        <p:txBody>
          <a:bodyPr>
            <a:normAutofit/>
          </a:bodyPr>
          <a:lstStyle/>
          <a:p>
            <a:pPr marL="0" indent="0">
              <a:lnSpc>
                <a:spcPct val="100000"/>
              </a:lnSpc>
              <a:buNone/>
            </a:pPr>
            <a:r>
              <a:rPr lang="en-IN" sz="2400" u="sng" dirty="0">
                <a:latin typeface="Times New Roman" panose="02020603050405020304" pitchFamily="18" charset="0"/>
                <a:cs typeface="Times New Roman" panose="02020603050405020304" pitchFamily="18" charset="0"/>
              </a:rPr>
              <a:t>Ensemble methods are mainly used to tackle the bias-variance trade-off</a:t>
            </a:r>
          </a:p>
          <a:p>
            <a:pPr marL="0" indent="0">
              <a:lnSpc>
                <a:spcPct val="100000"/>
              </a:lnSpc>
              <a:buNone/>
            </a:pPr>
            <a:r>
              <a:rPr lang="en-IN" sz="2000" dirty="0">
                <a:latin typeface="Times New Roman" panose="02020603050405020304" pitchFamily="18" charset="0"/>
                <a:cs typeface="Times New Roman" panose="02020603050405020304" pitchFamily="18" charset="0"/>
              </a:rPr>
              <a:t>Bias</a:t>
            </a:r>
            <a:r>
              <a:rPr lang="en-IN" b="1" dirty="0"/>
              <a:t> </a:t>
            </a:r>
            <a:r>
              <a:rPr lang="en-IN" sz="2000" dirty="0">
                <a:latin typeface="Times New Roman" panose="02020603050405020304" pitchFamily="18" charset="0"/>
                <a:cs typeface="Times New Roman" panose="02020603050405020304" pitchFamily="18" charset="0"/>
              </a:rPr>
              <a:t>refers to a systematic error in a model's predictions, often due to faulty assumptions or unrepresentative data during the learning process.</a:t>
            </a:r>
          </a:p>
          <a:p>
            <a:pPr marL="0" indent="0">
              <a:lnSpc>
                <a:spcPct val="100000"/>
              </a:lnSpc>
              <a:buNone/>
            </a:pPr>
            <a:r>
              <a:rPr lang="en-IN" sz="2100" dirty="0">
                <a:latin typeface="Times New Roman" panose="02020603050405020304" pitchFamily="18" charset="0"/>
                <a:cs typeface="Times New Roman" panose="02020603050405020304" pitchFamily="18" charset="0"/>
              </a:rPr>
              <a:t>Variance</a:t>
            </a:r>
            <a:r>
              <a:rPr lang="en-IN" b="1" dirty="0"/>
              <a:t> </a:t>
            </a:r>
            <a:r>
              <a:rPr lang="en-GB" sz="2100" dirty="0">
                <a:latin typeface="Times New Roman" panose="02020603050405020304" pitchFamily="18" charset="0"/>
                <a:cs typeface="Times New Roman" panose="02020603050405020304" pitchFamily="18" charset="0"/>
              </a:rPr>
              <a:t>High variance indicates that a model is very sensitive to the specific training data</a:t>
            </a:r>
            <a:r>
              <a:rPr lang="en-IN" sz="2100" dirty="0">
                <a:latin typeface="Times New Roman" panose="02020603050405020304" pitchFamily="18" charset="0"/>
                <a:cs typeface="Times New Roman" panose="02020603050405020304" pitchFamily="18" charset="0"/>
              </a:rPr>
              <a:t>. Means it performs well on the data it was trained on but poorly on any new data it encounters.</a:t>
            </a:r>
          </a:p>
        </p:txBody>
      </p:sp>
      <p:pic>
        <p:nvPicPr>
          <p:cNvPr id="2" name="Picture 1">
            <a:extLst>
              <a:ext uri="{FF2B5EF4-FFF2-40B4-BE49-F238E27FC236}">
                <a16:creationId xmlns:a16="http://schemas.microsoft.com/office/drawing/2014/main" id="{29E3C95B-A15D-D5ED-B730-F3A273FAA5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72858" y="3079538"/>
            <a:ext cx="4850342" cy="2866390"/>
          </a:xfrm>
          <a:prstGeom prst="rect">
            <a:avLst/>
          </a:prstGeom>
          <a:noFill/>
          <a:ln>
            <a:noFill/>
          </a:ln>
        </p:spPr>
      </p:pic>
    </p:spTree>
    <p:extLst>
      <p:ext uri="{BB962C8B-B14F-4D97-AF65-F5344CB8AC3E}">
        <p14:creationId xmlns:p14="http://schemas.microsoft.com/office/powerpoint/2010/main" val="1626205183"/>
      </p:ext>
    </p:extLst>
  </p:cSld>
  <p:clrMapOvr>
    <a:masterClrMapping/>
  </p:clrMapOvr>
  <mc:AlternateContent xmlns:mc="http://schemas.openxmlformats.org/markup-compatibility/2006" xmlns:p14="http://schemas.microsoft.com/office/powerpoint/2010/main">
    <mc:Choice Requires="p14">
      <p:transition spd="slow" p14:dur="2000" advTm="52569"/>
    </mc:Choice>
    <mc:Fallback xmlns="">
      <p:transition spd="slow" advTm="5256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689FF-82A7-91F3-3361-61A2994F3360}"/>
              </a:ext>
            </a:extLst>
          </p:cNvPr>
          <p:cNvSpPr>
            <a:spLocks noGrp="1"/>
          </p:cNvSpPr>
          <p:nvPr>
            <p:ph type="title"/>
          </p:nvPr>
        </p:nvSpPr>
        <p:spPr>
          <a:xfrm>
            <a:off x="279400" y="122767"/>
            <a:ext cx="10894484" cy="6735233"/>
          </a:xfrm>
        </p:spPr>
        <p:txBody>
          <a:bodyPr>
            <a:noAutofit/>
          </a:bodyPr>
          <a:lstStyle/>
          <a:p>
            <a:pPr lvl="2" hangingPunct="0"/>
            <a:br>
              <a:rPr lang="en-IN" sz="2000" b="1" u="sng" dirty="0">
                <a:latin typeface="Times New Roman" panose="02020603050405020304" pitchFamily="18" charset="0"/>
                <a:cs typeface="Times New Roman" panose="02020603050405020304" pitchFamily="18" charset="0"/>
              </a:rPr>
            </a:br>
            <a:r>
              <a:rPr lang="en-IN" sz="2000" b="1" u="sng" dirty="0">
                <a:latin typeface="Times New Roman" panose="02020603050405020304" pitchFamily="18" charset="0"/>
                <a:cs typeface="Times New Roman" panose="02020603050405020304" pitchFamily="18" charset="0"/>
              </a:rPr>
              <a:t>Experimental Setup:</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Data Preparation:</a:t>
            </a:r>
            <a:r>
              <a:rPr lang="en-IN" sz="2000" dirty="0">
                <a:latin typeface="Times New Roman" panose="02020603050405020304" pitchFamily="18" charset="0"/>
                <a:cs typeface="Times New Roman" panose="02020603050405020304" pitchFamily="18" charset="0"/>
              </a:rPr>
              <a:t> The ISLES'22 dataset undergoes pre-processing, including skull-stripping (as provided by source), and then dividing the data into respective Train/validate/Test sets.</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Training Protocol:</a:t>
            </a:r>
            <a:r>
              <a:rPr lang="en-IN" sz="2000" dirty="0">
                <a:latin typeface="Times New Roman" panose="02020603050405020304" pitchFamily="18" charset="0"/>
                <a:cs typeface="Times New Roman" panose="02020603050405020304" pitchFamily="18" charset="0"/>
              </a:rPr>
              <a:t> We will establish detailed training procedures for both individual base models and their subsequent ensemble configurations. This involves carefully selecting appropriate loss functions (e.g., Dice loss, Focal loss, which are well-suited for imbalanced medical data), optimizers, and learning rates.</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Implementation:</a:t>
            </a:r>
            <a:r>
              <a:rPr lang="en-IN" sz="2000" dirty="0">
                <a:latin typeface="Times New Roman" panose="02020603050405020304" pitchFamily="18" charset="0"/>
                <a:cs typeface="Times New Roman" panose="02020603050405020304" pitchFamily="18" charset="0"/>
              </a:rPr>
              <a:t> The study will leverage common deep learning frameworks, such as </a:t>
            </a:r>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or TensorFlow, along with relevant libraries for image processing and model development.</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GB" sz="1800" b="1" u="sng" dirty="0"/>
              <a:t>Evaluation and Results:</a:t>
            </a:r>
            <a:br>
              <a:rPr lang="en-IN" sz="1800" b="1" dirty="0"/>
            </a:br>
            <a:r>
              <a:rPr lang="en-GB" sz="1800" dirty="0"/>
              <a:t> </a:t>
            </a:r>
            <a:br>
              <a:rPr lang="en-IN" sz="1800" dirty="0"/>
            </a:br>
            <a:r>
              <a:rPr lang="en-IN" sz="2000" b="1" dirty="0">
                <a:latin typeface="Times New Roman" panose="02020603050405020304" pitchFamily="18" charset="0"/>
                <a:cs typeface="Times New Roman" panose="02020603050405020304" pitchFamily="18" charset="0"/>
              </a:rPr>
              <a:t>Evaluation Metrics: </a:t>
            </a:r>
            <a:r>
              <a:rPr lang="en-IN" sz="2000" dirty="0">
                <a:latin typeface="Times New Roman" panose="02020603050405020304" pitchFamily="18" charset="0"/>
                <a:cs typeface="Times New Roman" panose="02020603050405020304" pitchFamily="18" charset="0"/>
              </a:rPr>
              <a:t>models and methods are evaluated using metrics used for medical segmentation. These includes the Lesion-wise F1-Score, Dice Score (DSC) and Absolute Volume Difference (AVD).</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Comparative Analysis: </a:t>
            </a:r>
            <a:r>
              <a:rPr lang="en-IN" sz="2000" dirty="0">
                <a:latin typeface="Times New Roman" panose="02020603050405020304" pitchFamily="18" charset="0"/>
                <a:cs typeface="Times New Roman" panose="02020603050405020304" pitchFamily="18" charset="0"/>
              </a:rPr>
              <a:t>The performance of the ensemble models will be directly compared against each individual base model to quantify the improvement achieved through </a:t>
            </a:r>
            <a:r>
              <a:rPr lang="en-IN" sz="2000" dirty="0" err="1">
                <a:latin typeface="Times New Roman" panose="02020603050405020304" pitchFamily="18" charset="0"/>
                <a:cs typeface="Times New Roman" panose="02020603050405020304" pitchFamily="18" charset="0"/>
              </a:rPr>
              <a:t>ensembling</a:t>
            </a:r>
            <a:r>
              <a:rPr lang="en-IN" sz="2000"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Statistical Significance: Appropriate statistical tests will be applied to assess the significance of any observed performance differences.</a:t>
            </a:r>
            <a:br>
              <a:rPr lang="en-IN" sz="1800" dirty="0"/>
            </a:br>
            <a:br>
              <a:rPr lang="en-IN" sz="3600" dirty="0">
                <a:latin typeface="Times New Roman" panose="02020603050405020304" pitchFamily="18" charset="0"/>
                <a:cs typeface="Times New Roman" panose="02020603050405020304" pitchFamily="18" charset="0"/>
              </a:rPr>
            </a:br>
            <a:r>
              <a:rPr lang="en-GB" sz="3600"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0333866"/>
      </p:ext>
    </p:extLst>
  </p:cSld>
  <p:clrMapOvr>
    <a:masterClrMapping/>
  </p:clrMapOvr>
  <mc:AlternateContent xmlns:mc="http://schemas.openxmlformats.org/markup-compatibility/2006" xmlns:p14="http://schemas.microsoft.com/office/powerpoint/2010/main">
    <mc:Choice Requires="p14">
      <p:transition spd="slow" p14:dur="2000" advTm="139565"/>
    </mc:Choice>
    <mc:Fallback xmlns="">
      <p:transition spd="slow" advTm="13956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2076B-6A6B-57B0-9F42-9FB5814CCA77}"/>
              </a:ext>
            </a:extLst>
          </p:cNvPr>
          <p:cNvSpPr>
            <a:spLocks noGrp="1"/>
          </p:cNvSpPr>
          <p:nvPr>
            <p:ph type="title"/>
          </p:nvPr>
        </p:nvSpPr>
        <p:spPr>
          <a:xfrm>
            <a:off x="194734" y="365126"/>
            <a:ext cx="10787592" cy="3343274"/>
          </a:xfrm>
        </p:spPr>
        <p:txBody>
          <a:bodyPr>
            <a:noAutofit/>
          </a:bodyPr>
          <a:lstStyle/>
          <a:p>
            <a:r>
              <a:rPr lang="en-IN" sz="2000" b="1" u="sng" dirty="0">
                <a:latin typeface="Times New Roman" panose="02020603050405020304" pitchFamily="18" charset="0"/>
                <a:cs typeface="Times New Roman" panose="02020603050405020304" pitchFamily="18" charset="0"/>
              </a:rPr>
              <a:t>Bagging</a:t>
            </a:r>
            <a:r>
              <a:rPr lang="en-IN" sz="2000" u="sng" dirty="0">
                <a:latin typeface="Times New Roman" panose="02020603050405020304" pitchFamily="18" charset="0"/>
                <a:cs typeface="Times New Roman" panose="02020603050405020304" pitchFamily="18" charset="0"/>
              </a:rPr>
              <a:t>.</a:t>
            </a:r>
            <a:br>
              <a:rPr lang="en-IN" sz="2000" u="sng"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Training the "Committee”:</a:t>
            </a:r>
            <a:r>
              <a:rPr lang="en-IN" sz="2000" dirty="0">
                <a:latin typeface="Times New Roman" panose="02020603050405020304" pitchFamily="18" charset="0"/>
                <a:cs typeface="Times New Roman" panose="02020603050405020304" pitchFamily="18" charset="0"/>
              </a:rPr>
              <a:t> You don't want your experts to all have the exact same background, or they might all make the same mistake. So, you give them slightly different experiences.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The Data</a:t>
            </a:r>
            <a:r>
              <a:rPr lang="en-IN" sz="2000" dirty="0">
                <a:latin typeface="Times New Roman" panose="02020603050405020304" pitchFamily="18" charset="0"/>
                <a:cs typeface="Times New Roman" panose="02020603050405020304" pitchFamily="18" charset="0"/>
              </a:rPr>
              <a:t>: Think of data as a big library of textbooks.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The "Experts":</a:t>
            </a:r>
            <a:r>
              <a:rPr lang="en-IN" sz="2000" dirty="0">
                <a:latin typeface="Times New Roman" panose="02020603050405020304" pitchFamily="18" charset="0"/>
                <a:cs typeface="Times New Roman" panose="02020603050405020304" pitchFamily="18" charset="0"/>
              </a:rPr>
              <a:t> These are individual AI models.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The Training</a:t>
            </a:r>
            <a:r>
              <a:rPr lang="en-IN" sz="2000" dirty="0">
                <a:latin typeface="Times New Roman" panose="02020603050405020304" pitchFamily="18" charset="0"/>
                <a:cs typeface="Times New Roman" panose="02020603050405020304" pitchFamily="18" charset="0"/>
              </a:rPr>
              <a:t>: Instead of giving every expert the entire library, you create a unique "reading list" for each one.</a:t>
            </a:r>
            <a:endParaRPr lang="en-IN" sz="2000" b="1" u="sng"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17C06C9-5BA7-8522-019A-98B16545AA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408" y="3811271"/>
            <a:ext cx="5759450" cy="1724660"/>
          </a:xfrm>
          <a:prstGeom prst="rect">
            <a:avLst/>
          </a:prstGeom>
        </p:spPr>
      </p:pic>
    </p:spTree>
    <p:extLst>
      <p:ext uri="{BB962C8B-B14F-4D97-AF65-F5344CB8AC3E}">
        <p14:creationId xmlns:p14="http://schemas.microsoft.com/office/powerpoint/2010/main" val="583730700"/>
      </p:ext>
    </p:extLst>
  </p:cSld>
  <p:clrMapOvr>
    <a:masterClrMapping/>
  </p:clrMapOvr>
  <mc:AlternateContent xmlns:mc="http://schemas.openxmlformats.org/markup-compatibility/2006" xmlns:p14="http://schemas.microsoft.com/office/powerpoint/2010/main">
    <mc:Choice Requires="p14">
      <p:transition spd="slow" p14:dur="2000" advTm="58672"/>
    </mc:Choice>
    <mc:Fallback xmlns="">
      <p:transition spd="slow" advTm="5867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FE59-DCA3-674A-BC10-A7800ED7A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3EDD0-133C-FAB0-4F09-3F62E2C2BAF0}"/>
              </a:ext>
            </a:extLst>
          </p:cNvPr>
          <p:cNvSpPr>
            <a:spLocks noGrp="1"/>
          </p:cNvSpPr>
          <p:nvPr>
            <p:ph type="title"/>
          </p:nvPr>
        </p:nvSpPr>
        <p:spPr>
          <a:xfrm>
            <a:off x="194734" y="365126"/>
            <a:ext cx="10787592" cy="3343274"/>
          </a:xfrm>
        </p:spPr>
        <p:txBody>
          <a:bodyPr>
            <a:noAutofit/>
          </a:bodyPr>
          <a:lstStyle/>
          <a:p>
            <a:r>
              <a:rPr lang="en-IN" sz="2000" b="1" u="sng" dirty="0">
                <a:latin typeface="Times New Roman" panose="02020603050405020304" pitchFamily="18" charset="0"/>
                <a:cs typeface="Times New Roman" panose="02020603050405020304" pitchFamily="18" charset="0"/>
              </a:rPr>
              <a:t>Boosting is "Learning from Mistakes" Strategy</a:t>
            </a:r>
            <a:br>
              <a:rPr lang="en-IN" sz="2000" u="sng"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Imagine a team of students studying together for a difficult exam. Instead of studying independently, they work one after another, with each student focusing on the mistakes made by the one before them. This is the core idea of Boosting.</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It's another "team-based" approach like Bagging, but the strategy is completely different.</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How the Team Works (The Process)?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This is a step-by-step, sequential process:</a:t>
            </a:r>
          </a:p>
        </p:txBody>
      </p:sp>
      <p:pic>
        <p:nvPicPr>
          <p:cNvPr id="3" name="Picture 2">
            <a:extLst>
              <a:ext uri="{FF2B5EF4-FFF2-40B4-BE49-F238E27FC236}">
                <a16:creationId xmlns:a16="http://schemas.microsoft.com/office/drawing/2014/main" id="{7B1C7C0F-CE96-3205-EA76-020CBC0709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4471" y="3901547"/>
            <a:ext cx="7052864" cy="1745720"/>
          </a:xfrm>
          <a:prstGeom prst="rect">
            <a:avLst/>
          </a:prstGeom>
        </p:spPr>
      </p:pic>
    </p:spTree>
    <p:extLst>
      <p:ext uri="{BB962C8B-B14F-4D97-AF65-F5344CB8AC3E}">
        <p14:creationId xmlns:p14="http://schemas.microsoft.com/office/powerpoint/2010/main" val="1572666106"/>
      </p:ext>
    </p:extLst>
  </p:cSld>
  <p:clrMapOvr>
    <a:masterClrMapping/>
  </p:clrMapOvr>
  <mc:AlternateContent xmlns:mc="http://schemas.openxmlformats.org/markup-compatibility/2006" xmlns:p14="http://schemas.microsoft.com/office/powerpoint/2010/main">
    <mc:Choice Requires="p14">
      <p:transition spd="slow" p14:dur="2000" advTm="58488"/>
    </mc:Choice>
    <mc:Fallback xmlns="">
      <p:transition spd="slow" advTm="5848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AFDD-E611-DAE9-383F-B2FCA37445B0}"/>
              </a:ext>
            </a:extLst>
          </p:cNvPr>
          <p:cNvSpPr>
            <a:spLocks noGrp="1"/>
          </p:cNvSpPr>
          <p:nvPr>
            <p:ph type="title"/>
          </p:nvPr>
        </p:nvSpPr>
        <p:spPr>
          <a:xfrm>
            <a:off x="838200" y="365125"/>
            <a:ext cx="10287000" cy="644525"/>
          </a:xfrm>
        </p:spPr>
        <p:txBody>
          <a:bodyPr>
            <a:normAutofit/>
          </a:bodyPr>
          <a:lstStyle/>
          <a:p>
            <a:pPr algn="ctr"/>
            <a:r>
              <a:rPr lang="en-IN" sz="2000" b="1" dirty="0">
                <a:latin typeface="Times New Roman" panose="02020603050405020304" pitchFamily="18" charset="0"/>
                <a:cs typeface="Times New Roman" panose="02020603050405020304" pitchFamily="18" charset="0"/>
              </a:rPr>
              <a:t>Stacking (Stacked Generalization)</a:t>
            </a:r>
          </a:p>
        </p:txBody>
      </p:sp>
      <p:sp>
        <p:nvSpPr>
          <p:cNvPr id="3" name="Content Placeholder 2">
            <a:extLst>
              <a:ext uri="{FF2B5EF4-FFF2-40B4-BE49-F238E27FC236}">
                <a16:creationId xmlns:a16="http://schemas.microsoft.com/office/drawing/2014/main" id="{D9C1B007-3119-C70C-10A3-DF4B2E553A2E}"/>
              </a:ext>
            </a:extLst>
          </p:cNvPr>
          <p:cNvSpPr>
            <a:spLocks noGrp="1"/>
          </p:cNvSpPr>
          <p:nvPr>
            <p:ph idx="1"/>
          </p:nvPr>
        </p:nvSpPr>
        <p:spPr>
          <a:xfrm>
            <a:off x="76200" y="1109132"/>
            <a:ext cx="12115800" cy="4658255"/>
          </a:xfrm>
        </p:spPr>
        <p:txBody>
          <a:bodyPr>
            <a:normAutofit/>
          </a:bodyPr>
          <a:lstStyle/>
          <a:p>
            <a:pPr marL="0" indent="0">
              <a:buNone/>
            </a:pPr>
            <a:r>
              <a:rPr lang="en-IN" sz="2000" u="sng" dirty="0">
                <a:latin typeface="Times New Roman" panose="02020603050405020304" pitchFamily="18" charset="0"/>
                <a:cs typeface="Times New Roman" panose="02020603050405020304" pitchFamily="18" charset="0"/>
              </a:rPr>
              <a:t>In Simple Terms: The "Smart Manager" Strategy</a:t>
            </a:r>
          </a:p>
          <a:p>
            <a:pPr marL="0" indent="0">
              <a:buNone/>
            </a:pPr>
            <a:r>
              <a:rPr lang="en-IN" sz="2000" dirty="0">
                <a:latin typeface="Times New Roman" panose="02020603050405020304" pitchFamily="18" charset="0"/>
                <a:cs typeface="Times New Roman" panose="02020603050405020304" pitchFamily="18" charset="0"/>
              </a:rPr>
              <a:t>Imagine you have a very complex medical case. Instead of relying on one doctor, you assemble a team of specialists: a radiologist who excels at reading scans, a pathologist who is an expert on tissue samples, and an oncologist who understands the disease's progression.</a:t>
            </a:r>
          </a:p>
          <a:p>
            <a:pPr marL="0" indent="0">
              <a:buNone/>
            </a:pPr>
            <a:r>
              <a:rPr lang="en-IN" sz="2000" dirty="0">
                <a:latin typeface="Times New Roman" panose="02020603050405020304" pitchFamily="18" charset="0"/>
                <a:cs typeface="Times New Roman" panose="02020603050405020304" pitchFamily="18" charset="0"/>
              </a:rPr>
              <a:t>They each analyse the case and write up their own report.</a:t>
            </a:r>
          </a:p>
          <a:p>
            <a:pPr marL="0" indent="0">
              <a:lnSpc>
                <a:spcPct val="110000"/>
              </a:lnSpc>
              <a:buNone/>
            </a:pPr>
            <a:endParaRPr lang="en-US" sz="2000" dirty="0">
              <a:latin typeface="Times New Roman" panose="02020603050405020304" pitchFamily="18" charset="0"/>
              <a:cs typeface="Times New Roman" panose="02020603050405020304" pitchFamily="18" charset="0"/>
            </a:endParaRPr>
          </a:p>
          <a:p>
            <a:pPr marL="0" indent="0">
              <a:lnSpc>
                <a:spcPct val="110000"/>
              </a:lnSpc>
              <a:buNone/>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4AF9A82-89D3-F723-E6F2-62557F49E4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5812" y="3273319"/>
            <a:ext cx="8240856" cy="2141532"/>
          </a:xfrm>
          <a:prstGeom prst="rect">
            <a:avLst/>
          </a:prstGeom>
        </p:spPr>
      </p:pic>
    </p:spTree>
    <p:extLst>
      <p:ext uri="{BB962C8B-B14F-4D97-AF65-F5344CB8AC3E}">
        <p14:creationId xmlns:p14="http://schemas.microsoft.com/office/powerpoint/2010/main" val="2680319107"/>
      </p:ext>
    </p:extLst>
  </p:cSld>
  <p:clrMapOvr>
    <a:masterClrMapping/>
  </p:clrMapOvr>
  <mc:AlternateContent xmlns:mc="http://schemas.openxmlformats.org/markup-compatibility/2006" xmlns:p14="http://schemas.microsoft.com/office/powerpoint/2010/main">
    <mc:Choice Requires="p14">
      <p:transition spd="slow" p14:dur="2000" advTm="57589"/>
    </mc:Choice>
    <mc:Fallback xmlns="">
      <p:transition spd="slow" advTm="5758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A393-C795-3701-A70E-33B68286940A}"/>
              </a:ext>
            </a:extLst>
          </p:cNvPr>
          <p:cNvSpPr>
            <a:spLocks noGrp="1"/>
          </p:cNvSpPr>
          <p:nvPr>
            <p:ph type="title"/>
          </p:nvPr>
        </p:nvSpPr>
        <p:spPr/>
        <p:txBody>
          <a:bodyPr>
            <a:normAutofit/>
          </a:bodyPr>
          <a:lstStyle/>
          <a:p>
            <a:r>
              <a:rPr lang="en-IN" sz="2400" b="0" i="0" u="sng" dirty="0">
                <a:solidFill>
                  <a:srgbClr val="091E42"/>
                </a:solidFill>
                <a:effectLst/>
                <a:latin typeface="freight-text-pro"/>
              </a:rPr>
              <a:t>Literature Review</a:t>
            </a:r>
            <a:br>
              <a:rPr lang="en-IN" sz="3200" b="0" i="0" u="sng" dirty="0">
                <a:solidFill>
                  <a:srgbClr val="091E42"/>
                </a:solidFill>
                <a:effectLst/>
                <a:latin typeface="freight-text-pro"/>
              </a:rPr>
            </a:br>
            <a:endParaRPr lang="en-IN" sz="3200" u="sng" dirty="0"/>
          </a:p>
        </p:txBody>
      </p:sp>
      <p:sp>
        <p:nvSpPr>
          <p:cNvPr id="3" name="Content Placeholder 2">
            <a:extLst>
              <a:ext uri="{FF2B5EF4-FFF2-40B4-BE49-F238E27FC236}">
                <a16:creationId xmlns:a16="http://schemas.microsoft.com/office/drawing/2014/main" id="{B04F3B57-9201-DBC6-DCF8-F3170BA1562D}"/>
              </a:ext>
            </a:extLst>
          </p:cNvPr>
          <p:cNvSpPr>
            <a:spLocks noGrp="1"/>
          </p:cNvSpPr>
          <p:nvPr>
            <p:ph idx="1"/>
          </p:nvPr>
        </p:nvSpPr>
        <p:spPr>
          <a:xfrm>
            <a:off x="395817" y="1171575"/>
            <a:ext cx="11400366" cy="4921250"/>
          </a:xfrm>
        </p:spPr>
        <p:txBody>
          <a:bodyPr>
            <a:normAutofit lnSpcReduction="10000"/>
          </a:bodyPr>
          <a:lstStyle/>
          <a:p>
            <a:pPr marL="0" indent="0" algn="ctr">
              <a:buNone/>
            </a:pPr>
            <a:r>
              <a:rPr lang="en-US" sz="2400" u="sng" dirty="0"/>
              <a:t>Advancements in </a:t>
            </a:r>
            <a:r>
              <a:rPr lang="en-US" sz="2400" u="sng" dirty="0">
                <a:latin typeface="Times New Roman" panose="02020603050405020304" pitchFamily="18" charset="0"/>
                <a:cs typeface="Times New Roman" panose="02020603050405020304" pitchFamily="18" charset="0"/>
              </a:rPr>
              <a:t>Image Segmentation </a:t>
            </a:r>
            <a:r>
              <a:rPr lang="en-US" sz="2400" u="sng" dirty="0"/>
              <a:t>Using Deep Learning.</a:t>
            </a:r>
          </a:p>
          <a:p>
            <a:pPr marL="0" indent="0" algn="ctr">
              <a:buNone/>
            </a:pPr>
            <a:endParaRPr lang="en-US" sz="2400" u="sng" dirty="0"/>
          </a:p>
          <a:p>
            <a:pPr marL="0" indent="0">
              <a:buNone/>
            </a:pPr>
            <a:r>
              <a:rPr lang="en-US" sz="2000" dirty="0">
                <a:latin typeface="Times New Roman" panose="02020603050405020304" pitchFamily="18" charset="0"/>
                <a:cs typeface="Times New Roman" panose="02020603050405020304" pitchFamily="18" charset="0"/>
              </a:rPr>
              <a:t>Image segmentation is the process of partitioning a digital image into multiple image segments or regions to simplify the representation and make it more meaningful. Deep learning models have shown the potential to completely transform the diagnosis of stroke.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Traditional Image Segmentation Techniques</a:t>
            </a:r>
          </a:p>
          <a:p>
            <a:pPr lvl="1"/>
            <a:r>
              <a:rPr lang="en-US" sz="1600" dirty="0">
                <a:latin typeface="Times New Roman" panose="02020603050405020304" pitchFamily="18" charset="0"/>
                <a:cs typeface="Times New Roman" panose="02020603050405020304" pitchFamily="18" charset="0"/>
              </a:rPr>
              <a:t>Edge detection</a:t>
            </a:r>
          </a:p>
          <a:p>
            <a:pPr lvl="1"/>
            <a:r>
              <a:rPr lang="en-US" sz="1600" dirty="0">
                <a:latin typeface="Times New Roman" panose="02020603050405020304" pitchFamily="18" charset="0"/>
                <a:cs typeface="Times New Roman" panose="02020603050405020304" pitchFamily="18" charset="0"/>
              </a:rPr>
              <a:t>Threshold-Based Segmentation </a:t>
            </a:r>
          </a:p>
          <a:p>
            <a:pPr marL="0" lvl="1" indent="0">
              <a:spcBef>
                <a:spcPts val="1000"/>
              </a:spcBef>
              <a:buNone/>
            </a:pPr>
            <a:r>
              <a:rPr lang="en-IN" sz="2000" dirty="0">
                <a:latin typeface="Times New Roman" panose="02020603050405020304" pitchFamily="18" charset="0"/>
                <a:cs typeface="Times New Roman" panose="02020603050405020304" pitchFamily="18" charset="0"/>
              </a:rPr>
              <a:t>Clustering and Region-Based Techniques</a:t>
            </a:r>
          </a:p>
          <a:p>
            <a:pPr lvl="1"/>
            <a:r>
              <a:rPr lang="en-US" sz="1600" dirty="0">
                <a:latin typeface="Times New Roman" panose="02020603050405020304" pitchFamily="18" charset="0"/>
                <a:cs typeface="Times New Roman" panose="02020603050405020304" pitchFamily="18" charset="0"/>
              </a:rPr>
              <a:t>Clustering-Based Segmentation </a:t>
            </a:r>
          </a:p>
          <a:p>
            <a:pPr lvl="1"/>
            <a:r>
              <a:rPr lang="en-US" sz="1600" dirty="0">
                <a:latin typeface="Times New Roman" panose="02020603050405020304" pitchFamily="18" charset="0"/>
                <a:cs typeface="Times New Roman" panose="02020603050405020304" pitchFamily="18" charset="0"/>
              </a:rPr>
              <a:t>Region-Based Segmentation </a:t>
            </a:r>
          </a:p>
          <a:p>
            <a:pPr marL="0" indent="0">
              <a:buNone/>
            </a:pPr>
            <a:r>
              <a:rPr lang="en-US" sz="2000" dirty="0">
                <a:latin typeface="Times New Roman" panose="02020603050405020304" pitchFamily="18" charset="0"/>
                <a:cs typeface="Times New Roman" panose="02020603050405020304" pitchFamily="18" charset="0"/>
              </a:rPr>
              <a:t>Advanced Segmentation Approaches</a:t>
            </a:r>
          </a:p>
          <a:p>
            <a:pPr lvl="1"/>
            <a:r>
              <a:rPr lang="en-US" sz="1600" dirty="0">
                <a:latin typeface="Times New Roman" panose="02020603050405020304" pitchFamily="18" charset="0"/>
                <a:cs typeface="Times New Roman" panose="02020603050405020304" pitchFamily="18" charset="0"/>
              </a:rPr>
              <a:t>Semantic Segmentation </a:t>
            </a:r>
          </a:p>
          <a:p>
            <a:pPr lvl="1"/>
            <a:r>
              <a:rPr lang="en-US" sz="1600" dirty="0">
                <a:latin typeface="Times New Roman" panose="02020603050405020304" pitchFamily="18" charset="0"/>
                <a:cs typeface="Times New Roman" panose="02020603050405020304" pitchFamily="18" charset="0"/>
              </a:rPr>
              <a:t>Instance and Panoptic Segmentation </a:t>
            </a:r>
          </a:p>
        </p:txBody>
      </p:sp>
    </p:spTree>
    <p:extLst>
      <p:ext uri="{BB962C8B-B14F-4D97-AF65-F5344CB8AC3E}">
        <p14:creationId xmlns:p14="http://schemas.microsoft.com/office/powerpoint/2010/main" val="1535713509"/>
      </p:ext>
    </p:extLst>
  </p:cSld>
  <p:clrMapOvr>
    <a:masterClrMapping/>
  </p:clrMapOvr>
  <mc:AlternateContent xmlns:mc="http://schemas.openxmlformats.org/markup-compatibility/2006" xmlns:p14="http://schemas.microsoft.com/office/powerpoint/2010/main">
    <mc:Choice Requires="p14">
      <p:transition spd="slow" p14:dur="2000" advTm="31772"/>
    </mc:Choice>
    <mc:Fallback xmlns="">
      <p:transition spd="slow" advTm="3177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9A08D-81D3-335A-39F4-9AAFA0AF9409}"/>
              </a:ext>
            </a:extLst>
          </p:cNvPr>
          <p:cNvSpPr>
            <a:spLocks noGrp="1"/>
          </p:cNvSpPr>
          <p:nvPr>
            <p:ph type="title"/>
          </p:nvPr>
        </p:nvSpPr>
        <p:spPr/>
        <p:txBody>
          <a:bodyPr>
            <a:normAutofit/>
          </a:bodyPr>
          <a:lstStyle/>
          <a:p>
            <a:r>
              <a:rPr lang="en-US" sz="2800" b="1" dirty="0"/>
              <a:t>Recent Approaches in medical image Segmentation</a:t>
            </a:r>
            <a:endParaRPr lang="en-IN" sz="2800" b="1" dirty="0"/>
          </a:p>
        </p:txBody>
      </p:sp>
      <p:sp>
        <p:nvSpPr>
          <p:cNvPr id="3" name="Content Placeholder 2">
            <a:extLst>
              <a:ext uri="{FF2B5EF4-FFF2-40B4-BE49-F238E27FC236}">
                <a16:creationId xmlns:a16="http://schemas.microsoft.com/office/drawing/2014/main" id="{5AC239D6-3CC5-AD92-4121-724F4D889AE5}"/>
              </a:ext>
            </a:extLst>
          </p:cNvPr>
          <p:cNvSpPr>
            <a:spLocks noGrp="1"/>
          </p:cNvSpPr>
          <p:nvPr>
            <p:ph sz="half" idx="2"/>
          </p:nvPr>
        </p:nvSpPr>
        <p:spPr>
          <a:xfrm>
            <a:off x="701489" y="1637519"/>
            <a:ext cx="5174378" cy="4026679"/>
          </a:xfrm>
          <a:solidFill>
            <a:schemeClr val="bg1"/>
          </a:solidFill>
          <a:ln>
            <a:solidFill>
              <a:schemeClr val="accent1"/>
            </a:solidFill>
          </a:ln>
        </p:spPr>
        <p:txBody>
          <a:bodyPr>
            <a:normAutofit/>
          </a:bodyPr>
          <a:lstStyle/>
          <a:p>
            <a:pPr marL="0" indent="0">
              <a:buNone/>
            </a:pPr>
            <a:r>
              <a:rPr lang="en-GB" sz="1600" dirty="0">
                <a:latin typeface="Times New Roman" panose="02020603050405020304" pitchFamily="18" charset="0"/>
                <a:cs typeface="Times New Roman" panose="02020603050405020304" pitchFamily="18" charset="0"/>
              </a:rPr>
              <a:t>CNNs remain the leading force in computer vision, particularly in image segmentation. Their strength lies in its ability to learn features from image, which is why they form the foundation of numerous high-performing segmentation models.</a:t>
            </a:r>
            <a:endParaRPr lang="en-IN" sz="1600" dirty="0">
              <a:latin typeface="Times New Roman" panose="02020603050405020304" pitchFamily="18" charset="0"/>
              <a:cs typeface="Times New Roman" panose="02020603050405020304" pitchFamily="18" charset="0"/>
            </a:endParaRPr>
          </a:p>
          <a:p>
            <a:pPr marL="0" indent="0">
              <a:buNone/>
            </a:pPr>
            <a:endParaRPr lang="en-US" sz="2100"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928A93F9-DA69-8082-C669-A6924B9464CA}"/>
              </a:ext>
            </a:extLst>
          </p:cNvPr>
          <p:cNvSpPr>
            <a:spLocks noGrp="1"/>
          </p:cNvSpPr>
          <p:nvPr>
            <p:ph sz="quarter" idx="4"/>
          </p:nvPr>
        </p:nvSpPr>
        <p:spPr>
          <a:xfrm>
            <a:off x="5997575" y="1637520"/>
            <a:ext cx="5354637" cy="4026680"/>
          </a:xfrm>
          <a:ln>
            <a:solidFill>
              <a:schemeClr val="accent1"/>
            </a:solidFill>
          </a:ln>
        </p:spPr>
        <p:txBody>
          <a:bodyPr>
            <a:normAutofit/>
          </a:bodyPr>
          <a:lstStyle/>
          <a:p>
            <a:pPr marL="0" indent="0">
              <a:buNone/>
            </a:pPr>
            <a:r>
              <a:rPr lang="en-IN" sz="1600" dirty="0">
                <a:latin typeface="Times New Roman" panose="02020603050405020304" pitchFamily="18" charset="0"/>
                <a:cs typeface="Times New Roman" panose="02020603050405020304" pitchFamily="18" charset="0"/>
              </a:rPr>
              <a:t>Fully Convolutional Networks (FCNs): neural network architecture, specifically designed for semantic segmentation tasks, that leverage convolutional layers throughout the entire network.</a:t>
            </a:r>
          </a:p>
        </p:txBody>
      </p:sp>
      <p:pic>
        <p:nvPicPr>
          <p:cNvPr id="5" name="Picture 4">
            <a:extLst>
              <a:ext uri="{FF2B5EF4-FFF2-40B4-BE49-F238E27FC236}">
                <a16:creationId xmlns:a16="http://schemas.microsoft.com/office/drawing/2014/main" id="{ADA0AA7E-94DE-593D-D4F6-84EF0B1F7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788" y="3110956"/>
            <a:ext cx="4766007" cy="2043551"/>
          </a:xfrm>
          <a:prstGeom prst="rect">
            <a:avLst/>
          </a:prstGeom>
        </p:spPr>
      </p:pic>
      <p:pic>
        <p:nvPicPr>
          <p:cNvPr id="6" name="Picture 5">
            <a:extLst>
              <a:ext uri="{FF2B5EF4-FFF2-40B4-BE49-F238E27FC236}">
                <a16:creationId xmlns:a16="http://schemas.microsoft.com/office/drawing/2014/main" id="{DB96A5D5-E57F-9786-3AF2-BA4580F39F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4427" y="3092027"/>
            <a:ext cx="4251960" cy="2062480"/>
          </a:xfrm>
          <a:prstGeom prst="rect">
            <a:avLst/>
          </a:prstGeom>
        </p:spPr>
      </p:pic>
    </p:spTree>
    <p:extLst>
      <p:ext uri="{BB962C8B-B14F-4D97-AF65-F5344CB8AC3E}">
        <p14:creationId xmlns:p14="http://schemas.microsoft.com/office/powerpoint/2010/main" val="593026469"/>
      </p:ext>
    </p:extLst>
  </p:cSld>
  <p:clrMapOvr>
    <a:masterClrMapping/>
  </p:clrMapOvr>
  <mc:AlternateContent xmlns:mc="http://schemas.openxmlformats.org/markup-compatibility/2006" xmlns:p14="http://schemas.microsoft.com/office/powerpoint/2010/main">
    <mc:Choice Requires="p14">
      <p:transition spd="slow" p14:dur="2000" advTm="55283"/>
    </mc:Choice>
    <mc:Fallback xmlns="">
      <p:transition spd="slow" advTm="5528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F6B95-C0E2-4468-4792-D901D34C7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15CFF-9A63-52F5-41D3-3F0F7E4D787D}"/>
              </a:ext>
            </a:extLst>
          </p:cNvPr>
          <p:cNvSpPr>
            <a:spLocks noGrp="1"/>
          </p:cNvSpPr>
          <p:nvPr>
            <p:ph type="title"/>
          </p:nvPr>
        </p:nvSpPr>
        <p:spPr/>
        <p:txBody>
          <a:bodyPr>
            <a:normAutofit/>
          </a:bodyPr>
          <a:lstStyle/>
          <a:p>
            <a:r>
              <a:rPr lang="en-US" sz="2800" b="1" dirty="0"/>
              <a:t>Recent Approaches in </a:t>
            </a:r>
            <a:r>
              <a:rPr lang="en-US" sz="2800" dirty="0">
                <a:latin typeface="Times New Roman" panose="02020603050405020304" pitchFamily="18" charset="0"/>
                <a:cs typeface="Times New Roman" panose="02020603050405020304" pitchFamily="18" charset="0"/>
              </a:rPr>
              <a:t>Image Segmentation</a:t>
            </a:r>
            <a:endParaRPr lang="en-IN" sz="2800" b="1" dirty="0"/>
          </a:p>
        </p:txBody>
      </p:sp>
      <p:sp>
        <p:nvSpPr>
          <p:cNvPr id="3" name="Content Placeholder 2">
            <a:extLst>
              <a:ext uri="{FF2B5EF4-FFF2-40B4-BE49-F238E27FC236}">
                <a16:creationId xmlns:a16="http://schemas.microsoft.com/office/drawing/2014/main" id="{B29F2932-2CE8-A512-0DE5-F3769DB2ED67}"/>
              </a:ext>
            </a:extLst>
          </p:cNvPr>
          <p:cNvSpPr>
            <a:spLocks noGrp="1"/>
          </p:cNvSpPr>
          <p:nvPr>
            <p:ph sz="half" idx="2"/>
          </p:nvPr>
        </p:nvSpPr>
        <p:spPr>
          <a:xfrm>
            <a:off x="701490" y="1637520"/>
            <a:ext cx="5127810" cy="4525156"/>
          </a:xfrm>
          <a:solidFill>
            <a:schemeClr val="bg1"/>
          </a:solidFill>
          <a:ln>
            <a:solidFill>
              <a:schemeClr val="accent1"/>
            </a:solidFill>
          </a:ln>
        </p:spPr>
        <p:txBody>
          <a:bodyPr>
            <a:normAutofit fontScale="92500" lnSpcReduction="20000"/>
          </a:bodyPr>
          <a:lstStyle/>
          <a:p>
            <a:pPr marL="0" indent="0">
              <a:buNone/>
            </a:pPr>
            <a:r>
              <a:rPr lang="en-IN" sz="2400" u="sng" dirty="0"/>
              <a:t>Attention Mechanisms</a:t>
            </a:r>
            <a:br>
              <a:rPr lang="en-IN" sz="2400" u="sng" dirty="0"/>
            </a:br>
            <a:br>
              <a:rPr lang="en-IN" sz="2400" u="sng" dirty="0"/>
            </a:br>
            <a:br>
              <a:rPr lang="en-IN" sz="2400" u="sng" dirty="0"/>
            </a:br>
            <a:br>
              <a:rPr lang="en-IN" sz="2400" u="sng" dirty="0"/>
            </a:br>
            <a:br>
              <a:rPr lang="en-IN" sz="2400" u="sng" dirty="0"/>
            </a:br>
            <a:br>
              <a:rPr lang="en-IN" sz="2400" u="sng" dirty="0"/>
            </a:br>
            <a:br>
              <a:rPr lang="en-IN" sz="2400" u="sng" dirty="0"/>
            </a:br>
            <a:endParaRPr lang="en-IN" sz="2400" u="sng" dirty="0"/>
          </a:p>
          <a:p>
            <a:pPr marL="0" indent="0">
              <a:buNone/>
            </a:pPr>
            <a:endParaRPr lang="en-IN" sz="1800" i="1" dirty="0"/>
          </a:p>
          <a:p>
            <a:pPr marL="0" indent="0">
              <a:buNone/>
            </a:pPr>
            <a:endParaRPr lang="en-IN" sz="1800" i="1" dirty="0"/>
          </a:p>
          <a:p>
            <a:pPr marL="0" indent="0">
              <a:buNone/>
            </a:pPr>
            <a:br>
              <a:rPr lang="en-IN" sz="1800" i="1" dirty="0"/>
            </a:br>
            <a:endParaRPr lang="en-IN" sz="1800" i="1" dirty="0"/>
          </a:p>
          <a:p>
            <a:pPr marL="0" indent="0">
              <a:buNone/>
            </a:pPr>
            <a:r>
              <a:rPr lang="en-US" sz="1800" i="1" dirty="0">
                <a:hlinkClick r:id="rId2"/>
              </a:rPr>
              <a:t>https://en.wikipedia.org/wiki/Attention_</a:t>
            </a:r>
            <a:endParaRPr lang="en-IN" sz="1800" i="1" dirty="0"/>
          </a:p>
          <a:p>
            <a:pPr marL="0" indent="0">
              <a:lnSpc>
                <a:spcPct val="120000"/>
              </a:lnSpc>
              <a:buNone/>
            </a:pPr>
            <a:r>
              <a:rPr lang="en-US" sz="1700" b="0" i="0" dirty="0">
                <a:solidFill>
                  <a:srgbClr val="001D35"/>
                </a:solidFill>
                <a:effectLst/>
                <a:latin typeface="Times New Roman" panose="02020603050405020304" pitchFamily="18" charset="0"/>
                <a:cs typeface="Times New Roman" panose="02020603050405020304" pitchFamily="18" charset="0"/>
              </a:rPr>
              <a:t>Attention mechanisms are used in medical image segmentation </a:t>
            </a:r>
            <a:r>
              <a:rPr lang="en-US" sz="1700" dirty="0">
                <a:latin typeface="Times New Roman" panose="02020603050405020304" pitchFamily="18" charset="0"/>
                <a:cs typeface="Times New Roman" panose="02020603050405020304" pitchFamily="18" charset="0"/>
              </a:rPr>
              <a:t>to improve model performance by focusing on relevant information</a:t>
            </a:r>
          </a:p>
        </p:txBody>
      </p:sp>
      <p:sp>
        <p:nvSpPr>
          <p:cNvPr id="10" name="Content Placeholder 9">
            <a:extLst>
              <a:ext uri="{FF2B5EF4-FFF2-40B4-BE49-F238E27FC236}">
                <a16:creationId xmlns:a16="http://schemas.microsoft.com/office/drawing/2014/main" id="{48B3BF0B-C434-E3AC-7A44-3C1C367DD4E2}"/>
              </a:ext>
            </a:extLst>
          </p:cNvPr>
          <p:cNvSpPr>
            <a:spLocks noGrp="1"/>
          </p:cNvSpPr>
          <p:nvPr>
            <p:ph sz="quarter" idx="4"/>
          </p:nvPr>
        </p:nvSpPr>
        <p:spPr>
          <a:xfrm>
            <a:off x="5997575" y="1637520"/>
            <a:ext cx="5357813" cy="4631796"/>
          </a:xfrm>
          <a:ln>
            <a:solidFill>
              <a:schemeClr val="accent1"/>
            </a:solidFill>
          </a:ln>
        </p:spPr>
        <p:txBody>
          <a:bodyPr>
            <a:normAutofit fontScale="92500" lnSpcReduction="20000"/>
          </a:bodyPr>
          <a:lstStyle/>
          <a:p>
            <a:pPr marL="0" indent="0">
              <a:buNone/>
            </a:pPr>
            <a:r>
              <a:rPr lang="en-US" sz="2400" u="sng" dirty="0"/>
              <a:t>Transformer-based Models</a:t>
            </a:r>
          </a:p>
          <a:p>
            <a:pPr marL="0" indent="0">
              <a:lnSpc>
                <a:spcPct val="70000"/>
              </a:lnSpc>
              <a:buNone/>
            </a:pP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US" sz="1400" i="1" dirty="0"/>
            </a:br>
            <a:endParaRPr lang="en-US" sz="1400" i="1" dirty="0"/>
          </a:p>
          <a:p>
            <a:pPr marL="0" indent="0">
              <a:lnSpc>
                <a:spcPct val="70000"/>
              </a:lnSpc>
              <a:buNone/>
            </a:pPr>
            <a:endParaRPr lang="en-US" sz="1400" i="1" dirty="0"/>
          </a:p>
          <a:p>
            <a:pPr marL="0" indent="0">
              <a:lnSpc>
                <a:spcPct val="70000"/>
              </a:lnSpc>
              <a:buNone/>
            </a:pPr>
            <a:endParaRPr lang="en-US" sz="1400" i="1" dirty="0"/>
          </a:p>
          <a:p>
            <a:pPr marL="0" indent="0">
              <a:lnSpc>
                <a:spcPct val="70000"/>
              </a:lnSpc>
              <a:buNone/>
            </a:pPr>
            <a:endParaRPr lang="en-US" sz="1400" i="1" dirty="0"/>
          </a:p>
          <a:p>
            <a:pPr marL="0" indent="0">
              <a:lnSpc>
                <a:spcPct val="70000"/>
              </a:lnSpc>
              <a:buNone/>
            </a:pPr>
            <a:endParaRPr lang="en-US" sz="1400" i="1" dirty="0"/>
          </a:p>
          <a:p>
            <a:pPr marL="0" indent="0">
              <a:lnSpc>
                <a:spcPct val="70000"/>
              </a:lnSpc>
              <a:buNone/>
            </a:pPr>
            <a:endParaRPr lang="en-US" sz="1600" dirty="0">
              <a:latin typeface="Times New Roman" panose="02020603050405020304" pitchFamily="18" charset="0"/>
              <a:cs typeface="Times New Roman" panose="02020603050405020304" pitchFamily="18" charset="0"/>
            </a:endParaRPr>
          </a:p>
          <a:p>
            <a:pPr marL="0" indent="0">
              <a:lnSpc>
                <a:spcPct val="70000"/>
              </a:lnSpc>
              <a:buNone/>
            </a:pPr>
            <a:r>
              <a:rPr lang="en-US" sz="1600" dirty="0">
                <a:latin typeface="Times New Roman" panose="02020603050405020304" pitchFamily="18" charset="0"/>
                <a:cs typeface="Times New Roman" panose="02020603050405020304" pitchFamily="18" charset="0"/>
                <a:hlinkClick r:id="rId3"/>
              </a:rPr>
              <a:t>https://en.wikipedia.org/wiki/Transformer_</a:t>
            </a:r>
            <a:endParaRPr lang="en-US" sz="1600" dirty="0">
              <a:latin typeface="Times New Roman" panose="02020603050405020304" pitchFamily="18" charset="0"/>
              <a:cs typeface="Times New Roman" panose="02020603050405020304" pitchFamily="18" charset="0"/>
            </a:endParaRPr>
          </a:p>
          <a:p>
            <a:pPr marL="0" indent="0">
              <a:lnSpc>
                <a:spcPct val="70000"/>
              </a:lnSpc>
              <a:buNone/>
            </a:pP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 Transformer is composed of stacked encoder layers and decoder</a:t>
            </a:r>
          </a:p>
          <a:p>
            <a:pPr marL="0" indent="0">
              <a:lnSpc>
                <a:spcPct val="70000"/>
              </a:lnSpc>
              <a:buNone/>
            </a:pPr>
            <a:r>
              <a:rPr lang="en-US" sz="1600" dirty="0">
                <a:latin typeface="Times New Roman" panose="02020603050405020304" pitchFamily="18" charset="0"/>
                <a:cs typeface="Times New Roman" panose="02020603050405020304" pitchFamily="18" charset="0"/>
              </a:rPr>
              <a:t> layers(Transformer-based models are a promising alternative to</a:t>
            </a:r>
          </a:p>
          <a:p>
            <a:pPr marL="0" indent="0">
              <a:lnSpc>
                <a:spcPct val="70000"/>
              </a:lnSpc>
              <a:buNone/>
            </a:pPr>
            <a:r>
              <a:rPr lang="en-US" sz="1600" dirty="0">
                <a:latin typeface="Times New Roman" panose="02020603050405020304" pitchFamily="18" charset="0"/>
                <a:cs typeface="Times New Roman" panose="02020603050405020304" pitchFamily="18" charset="0"/>
              </a:rPr>
              <a:t> CNNs)</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3507B6F-9265-CCC0-91F2-44E57386C56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67812" y="2472267"/>
            <a:ext cx="5232183" cy="1901930"/>
          </a:xfrm>
          <a:prstGeom prst="rect">
            <a:avLst/>
          </a:prstGeom>
          <a:noFill/>
          <a:ln>
            <a:noFill/>
          </a:ln>
        </p:spPr>
      </p:pic>
      <p:pic>
        <p:nvPicPr>
          <p:cNvPr id="1026" name="Picture 2">
            <a:extLst>
              <a:ext uri="{FF2B5EF4-FFF2-40B4-BE49-F238E27FC236}">
                <a16:creationId xmlns:a16="http://schemas.microsoft.com/office/drawing/2014/main" id="{BFFFF82D-730D-CE3E-B615-B5A74A7A4E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1411" y="2136185"/>
            <a:ext cx="3144682" cy="2342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838749"/>
      </p:ext>
    </p:extLst>
  </p:cSld>
  <p:clrMapOvr>
    <a:masterClrMapping/>
  </p:clrMapOvr>
  <mc:AlternateContent xmlns:mc="http://schemas.openxmlformats.org/markup-compatibility/2006" xmlns:p14="http://schemas.microsoft.com/office/powerpoint/2010/main">
    <mc:Choice Requires="p14">
      <p:transition spd="slow" p14:dur="2000" advTm="34128"/>
    </mc:Choice>
    <mc:Fallback xmlns="">
      <p:transition spd="slow" advTm="3412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26995-CFFA-7F26-4A52-7B9A68F1C0EA}"/>
              </a:ext>
            </a:extLst>
          </p:cNvPr>
          <p:cNvSpPr>
            <a:spLocks noGrp="1"/>
          </p:cNvSpPr>
          <p:nvPr>
            <p:ph type="title"/>
          </p:nvPr>
        </p:nvSpPr>
        <p:spPr>
          <a:xfrm>
            <a:off x="676275" y="403225"/>
            <a:ext cx="10515600" cy="1325563"/>
          </a:xfrm>
        </p:spPr>
        <p:txBody>
          <a:bodyPr>
            <a:normAutofit/>
          </a:bodyPr>
          <a:lstStyle/>
          <a:p>
            <a:r>
              <a:rPr lang="en-IN" sz="2800" b="1" dirty="0"/>
              <a:t>Research methodology</a:t>
            </a:r>
            <a:br>
              <a:rPr lang="en-IN" sz="2800" b="1" dirty="0"/>
            </a:br>
            <a:endParaRPr lang="en-IN" sz="2800" b="1" dirty="0"/>
          </a:p>
        </p:txBody>
      </p:sp>
      <p:sp>
        <p:nvSpPr>
          <p:cNvPr id="3" name="Content Placeholder 2">
            <a:extLst>
              <a:ext uri="{FF2B5EF4-FFF2-40B4-BE49-F238E27FC236}">
                <a16:creationId xmlns:a16="http://schemas.microsoft.com/office/drawing/2014/main" id="{83910553-F79A-B0DA-8D2F-124959C711FB}"/>
              </a:ext>
            </a:extLst>
          </p:cNvPr>
          <p:cNvSpPr>
            <a:spLocks noGrp="1"/>
          </p:cNvSpPr>
          <p:nvPr>
            <p:ph idx="1"/>
          </p:nvPr>
        </p:nvSpPr>
        <p:spPr>
          <a:xfrm>
            <a:off x="676275" y="1323975"/>
            <a:ext cx="10677525" cy="4852988"/>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Study employs a quantitative research methodology, which is most appropriate for the task of stroke lesion segmentation using machine learning techniques. The quantitative nature of study enables us to evaluate the accuracy and efficiency across various top performing algorithms submitted to ISLES’22 challenge.</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u="sng" dirty="0">
                <a:latin typeface="Times New Roman" panose="02020603050405020304" pitchFamily="18" charset="0"/>
                <a:cs typeface="Times New Roman" panose="02020603050405020304" pitchFamily="18" charset="0"/>
              </a:rPr>
              <a:t>Quantitative methods :</a:t>
            </a:r>
            <a:br>
              <a:rPr lang="en-US" sz="2000" u="sng"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allow us to measure the performance of our ensemble algorithm using standardized metrics such as Dice Similarity Coefficient (DSC) and lesion-wise F1 score</a:t>
            </a:r>
          </a:p>
          <a:p>
            <a:r>
              <a:rPr lang="en-US" sz="2000" u="sng" dirty="0">
                <a:latin typeface="Times New Roman" panose="02020603050405020304" pitchFamily="18" charset="0"/>
                <a:cs typeface="Times New Roman" panose="02020603050405020304" pitchFamily="18" charset="0"/>
              </a:rPr>
              <a:t>Large Dataset Analysis: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ISLES 2022 dataset comprises 400 multi-vendor MRI cases with high variability in stroke lesion size, quantity, and location. A quantitative approach is best suited to analyze such a large and diverse dataset</a:t>
            </a:r>
          </a:p>
          <a:p>
            <a:r>
              <a:rPr lang="en-US" sz="2000" u="sng" dirty="0">
                <a:latin typeface="Times New Roman" panose="02020603050405020304" pitchFamily="18" charset="0"/>
                <a:cs typeface="Times New Roman" panose="02020603050405020304" pitchFamily="18" charset="0"/>
              </a:rPr>
              <a:t>Compatibility with Machine Learning: </a:t>
            </a:r>
            <a:br>
              <a:rPr lang="en-US" sz="2000" u="sng"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Study heavily relies on machine learning techniques, particularly deep learning and ensemble methods, which inherently produce quantitative outputs.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6457684"/>
      </p:ext>
    </p:extLst>
  </p:cSld>
  <p:clrMapOvr>
    <a:masterClrMapping/>
  </p:clrMapOvr>
  <mc:AlternateContent xmlns:mc="http://schemas.openxmlformats.org/markup-compatibility/2006" xmlns:p14="http://schemas.microsoft.com/office/powerpoint/2010/main">
    <mc:Choice Requires="p14">
      <p:transition spd="slow" p14:dur="2000" advTm="59071"/>
    </mc:Choice>
    <mc:Fallback xmlns="">
      <p:transition spd="slow" advTm="5907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A87C-482D-ECB4-B4A8-AB5D7C75A18F}"/>
              </a:ext>
            </a:extLst>
          </p:cNvPr>
          <p:cNvSpPr>
            <a:spLocks noGrp="1"/>
          </p:cNvSpPr>
          <p:nvPr>
            <p:ph type="title"/>
          </p:nvPr>
        </p:nvSpPr>
        <p:spPr/>
        <p:txBody>
          <a:bodyPr>
            <a:normAutofit/>
          </a:bodyPr>
          <a:lstStyle/>
          <a:p>
            <a:pPr hangingPunct="0"/>
            <a:r>
              <a:rPr lang="en-GB" sz="2400" b="1" dirty="0">
                <a:latin typeface="Times New Roman" panose="02020603050405020304" pitchFamily="18" charset="0"/>
                <a:cs typeface="Times New Roman" panose="02020603050405020304" pitchFamily="18" charset="0"/>
              </a:rPr>
              <a:t>IMPLEMENTATION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22CD22-C029-0876-5A24-7337809B2121}"/>
              </a:ext>
            </a:extLst>
          </p:cNvPr>
          <p:cNvSpPr>
            <a:spLocks noGrp="1"/>
          </p:cNvSpPr>
          <p:nvPr>
            <p:ph idx="1"/>
          </p:nvPr>
        </p:nvSpPr>
        <p:spPr>
          <a:xfrm>
            <a:off x="838200" y="1443037"/>
            <a:ext cx="10820400" cy="4948237"/>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Implementation plan for creating an ensemble learning for image segmentation, particularly focusing on approach = in a Google Collab environment using the ISLES'22 dataset as a case study.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A6DAC42-F667-0E83-0162-80558EE85FAA}"/>
              </a:ext>
            </a:extLst>
          </p:cNvPr>
          <p:cNvPicPr>
            <a:picLocks noChangeAspect="1"/>
          </p:cNvPicPr>
          <p:nvPr/>
        </p:nvPicPr>
        <p:blipFill>
          <a:blip r:embed="rId2"/>
          <a:stretch>
            <a:fillRect/>
          </a:stretch>
        </p:blipFill>
        <p:spPr>
          <a:xfrm>
            <a:off x="2183342" y="2497667"/>
            <a:ext cx="7567761" cy="3375872"/>
          </a:xfrm>
          <a:prstGeom prst="rect">
            <a:avLst/>
          </a:prstGeom>
        </p:spPr>
      </p:pic>
    </p:spTree>
    <p:extLst>
      <p:ext uri="{BB962C8B-B14F-4D97-AF65-F5344CB8AC3E}">
        <p14:creationId xmlns:p14="http://schemas.microsoft.com/office/powerpoint/2010/main" val="3351942949"/>
      </p:ext>
    </p:extLst>
  </p:cSld>
  <p:clrMapOvr>
    <a:masterClrMapping/>
  </p:clrMapOvr>
  <mc:AlternateContent xmlns:mc="http://schemas.openxmlformats.org/markup-compatibility/2006" xmlns:p14="http://schemas.microsoft.com/office/powerpoint/2010/main">
    <mc:Choice Requires="p14">
      <p:transition spd="slow" p14:dur="2000" advTm="15620"/>
    </mc:Choice>
    <mc:Fallback xmlns="">
      <p:transition spd="slow" advTm="1562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F311E-C493-9AE9-A163-4A78AF302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DA437-FDAA-3151-4F6F-DA6AFE8014FE}"/>
              </a:ext>
            </a:extLst>
          </p:cNvPr>
          <p:cNvSpPr>
            <a:spLocks noGrp="1"/>
          </p:cNvSpPr>
          <p:nvPr>
            <p:ph type="title"/>
          </p:nvPr>
        </p:nvSpPr>
        <p:spPr>
          <a:xfrm>
            <a:off x="304799" y="261719"/>
            <a:ext cx="10515600" cy="1325563"/>
          </a:xfrm>
        </p:spPr>
        <p:txBody>
          <a:bodyPr>
            <a:normAutofit/>
          </a:bodyPr>
          <a:lstStyle/>
          <a:p>
            <a:pPr hangingPunct="0"/>
            <a:r>
              <a:rPr lang="en-GB" sz="2400" b="1" dirty="0">
                <a:latin typeface="Times New Roman" panose="02020603050405020304" pitchFamily="18" charset="0"/>
                <a:cs typeface="Times New Roman" panose="02020603050405020304" pitchFamily="18" charset="0"/>
              </a:rPr>
              <a:t>IMPLEMENTATION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78EE16-A4AE-18AD-F5CE-B16BDE05ACDA}"/>
              </a:ext>
            </a:extLst>
          </p:cNvPr>
          <p:cNvSpPr>
            <a:spLocks noGrp="1"/>
          </p:cNvSpPr>
          <p:nvPr>
            <p:ph idx="1"/>
          </p:nvPr>
        </p:nvSpPr>
        <p:spPr>
          <a:xfrm>
            <a:off x="304799" y="1131565"/>
            <a:ext cx="11768667" cy="5259710"/>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Implementation plan for creating an ensemble learning for image segmentation, particularly focusing on approach in a Google Collab environment using the ISLES'22 dataset as a case study.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STEP 1 : INSTALATIONS AND IMPORTS.</a:t>
            </a: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A8EE238-4C98-CAB6-8FB9-F0DD91B71E38}"/>
              </a:ext>
            </a:extLst>
          </p:cNvPr>
          <p:cNvGraphicFramePr>
            <a:graphicFrameLocks noGrp="1"/>
          </p:cNvGraphicFramePr>
          <p:nvPr>
            <p:extLst>
              <p:ext uri="{D42A27DB-BD31-4B8C-83A1-F6EECF244321}">
                <p14:modId xmlns:p14="http://schemas.microsoft.com/office/powerpoint/2010/main" val="781607354"/>
              </p:ext>
            </p:extLst>
          </p:nvPr>
        </p:nvGraphicFramePr>
        <p:xfrm>
          <a:off x="6248400" y="2727326"/>
          <a:ext cx="5756275" cy="1861124"/>
        </p:xfrm>
        <a:graphic>
          <a:graphicData uri="http://schemas.openxmlformats.org/drawingml/2006/table">
            <a:tbl>
              <a:tblPr firstRow="1" firstCol="1" bandRow="1">
                <a:tableStyleId>{5C22544A-7EE6-4342-B048-85BDC9FD1C3A}</a:tableStyleId>
              </a:tblPr>
              <a:tblGrid>
                <a:gridCol w="3207385">
                  <a:extLst>
                    <a:ext uri="{9D8B030D-6E8A-4147-A177-3AD203B41FA5}">
                      <a16:colId xmlns:a16="http://schemas.microsoft.com/office/drawing/2014/main" val="2893643906"/>
                    </a:ext>
                  </a:extLst>
                </a:gridCol>
                <a:gridCol w="2548890">
                  <a:extLst>
                    <a:ext uri="{9D8B030D-6E8A-4147-A177-3AD203B41FA5}">
                      <a16:colId xmlns:a16="http://schemas.microsoft.com/office/drawing/2014/main" val="3808747544"/>
                    </a:ext>
                  </a:extLst>
                </a:gridCol>
              </a:tblGrid>
              <a:tr h="0">
                <a:tc>
                  <a:txBody>
                    <a:bodyPr/>
                    <a:lstStyle/>
                    <a:p>
                      <a:pPr marL="457200" algn="just" hangingPunct="0">
                        <a:lnSpc>
                          <a:spcPct val="115000"/>
                        </a:lnSpc>
                        <a:buNone/>
                        <a:tabLst>
                          <a:tab pos="457200" algn="l"/>
                        </a:tabLst>
                      </a:pPr>
                      <a:r>
                        <a:rPr lang="en-GB" sz="1200" dirty="0">
                          <a:effectLst/>
                        </a:rPr>
                        <a:t>Albumentations</a:t>
                      </a:r>
                      <a:endParaRPr lang="en-IN"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just" hangingPunct="0">
                        <a:lnSpc>
                          <a:spcPct val="115000"/>
                        </a:lnSpc>
                        <a:buNone/>
                        <a:tabLst>
                          <a:tab pos="457200" algn="l"/>
                        </a:tabLst>
                      </a:pPr>
                      <a:r>
                        <a:rPr lang="en-GB" sz="1200">
                          <a:effectLst/>
                        </a:rPr>
                        <a:t>For image augmentatio</a:t>
                      </a:r>
                      <a:r>
                        <a:rPr lang="en-GB" sz="1000">
                          <a:effectLst/>
                        </a:rPr>
                        <a:t>n</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75636891"/>
                  </a:ext>
                </a:extLst>
              </a:tr>
              <a:tr h="0">
                <a:tc>
                  <a:txBody>
                    <a:bodyPr/>
                    <a:lstStyle/>
                    <a:p>
                      <a:pPr marL="457200" algn="just" hangingPunct="0">
                        <a:lnSpc>
                          <a:spcPct val="115000"/>
                        </a:lnSpc>
                        <a:buNone/>
                        <a:tabLst>
                          <a:tab pos="457200" algn="l"/>
                        </a:tabLst>
                      </a:pPr>
                      <a:r>
                        <a:rPr lang="en-GB" sz="1200">
                          <a:effectLst/>
                        </a:rPr>
                        <a:t>nibabel</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just" hangingPunct="0">
                        <a:lnSpc>
                          <a:spcPct val="115000"/>
                        </a:lnSpc>
                        <a:buNone/>
                        <a:tabLst>
                          <a:tab pos="457200" algn="l"/>
                        </a:tabLst>
                      </a:pPr>
                      <a:r>
                        <a:rPr lang="en-GB" sz="1200">
                          <a:effectLst/>
                        </a:rPr>
                        <a:t>For handling NIfTI medical image files</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1039452"/>
                  </a:ext>
                </a:extLst>
              </a:tr>
              <a:tr h="0">
                <a:tc>
                  <a:txBody>
                    <a:bodyPr/>
                    <a:lstStyle/>
                    <a:p>
                      <a:pPr marL="457200" algn="just" hangingPunct="0">
                        <a:lnSpc>
                          <a:spcPct val="115000"/>
                        </a:lnSpc>
                        <a:buNone/>
                        <a:tabLst>
                          <a:tab pos="457200" algn="l"/>
                        </a:tabLst>
                      </a:pPr>
                      <a:r>
                        <a:rPr lang="en-GB" sz="1200">
                          <a:effectLst/>
                        </a:rPr>
                        <a:t>OpenCV-python</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just" hangingPunct="0">
                        <a:lnSpc>
                          <a:spcPct val="115000"/>
                        </a:lnSpc>
                        <a:buNone/>
                        <a:tabLst>
                          <a:tab pos="457200" algn="l"/>
                        </a:tabLst>
                      </a:pPr>
                      <a:r>
                        <a:rPr lang="en-GB" sz="1200">
                          <a:effectLst/>
                        </a:rPr>
                        <a:t>For image processing</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71828270"/>
                  </a:ext>
                </a:extLst>
              </a:tr>
              <a:tr h="0">
                <a:tc>
                  <a:txBody>
                    <a:bodyPr/>
                    <a:lstStyle/>
                    <a:p>
                      <a:pPr marL="457200" algn="just" hangingPunct="0">
                        <a:lnSpc>
                          <a:spcPct val="115000"/>
                        </a:lnSpc>
                        <a:buNone/>
                        <a:tabLst>
                          <a:tab pos="457200" algn="l"/>
                        </a:tabLst>
                      </a:pPr>
                      <a:r>
                        <a:rPr lang="en-GB" sz="1200">
                          <a:effectLst/>
                        </a:rPr>
                        <a:t>segmentation_models_pytorch</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just" hangingPunct="0">
                        <a:lnSpc>
                          <a:spcPct val="115000"/>
                        </a:lnSpc>
                        <a:buNone/>
                        <a:tabLst>
                          <a:tab pos="457200" algn="l"/>
                        </a:tabLst>
                      </a:pPr>
                      <a:r>
                        <a:rPr lang="en-GB" sz="1200" dirty="0">
                          <a:effectLst/>
                        </a:rPr>
                        <a:t>For pre-built segmentation models</a:t>
                      </a:r>
                      <a:endParaRPr lang="en-IN"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77536193"/>
                  </a:ext>
                </a:extLst>
              </a:tr>
              <a:tr h="0">
                <a:tc>
                  <a:txBody>
                    <a:bodyPr/>
                    <a:lstStyle/>
                    <a:p>
                      <a:pPr marL="457200" algn="just" hangingPunct="0">
                        <a:lnSpc>
                          <a:spcPct val="115000"/>
                        </a:lnSpc>
                        <a:buNone/>
                        <a:tabLst>
                          <a:tab pos="457200" algn="l"/>
                        </a:tabLst>
                      </a:pPr>
                      <a:r>
                        <a:rPr lang="en-GB" sz="1200">
                          <a:effectLst/>
                        </a:rPr>
                        <a:t>torch</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PyTorch deep learning framework</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75025232"/>
                  </a:ext>
                </a:extLst>
              </a:tr>
              <a:tr h="0">
                <a:tc>
                  <a:txBody>
                    <a:bodyPr/>
                    <a:lstStyle/>
                    <a:p>
                      <a:pPr marL="457200" algn="just" hangingPunct="0">
                        <a:lnSpc>
                          <a:spcPct val="115000"/>
                        </a:lnSpc>
                        <a:buNone/>
                        <a:tabLst>
                          <a:tab pos="457200" algn="l"/>
                        </a:tabLst>
                      </a:pPr>
                      <a:r>
                        <a:rPr lang="en-GB" sz="1200">
                          <a:effectLst/>
                        </a:rPr>
                        <a:t>TensorFlow</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just" hangingPunct="0">
                        <a:lnSpc>
                          <a:spcPct val="115000"/>
                        </a:lnSpc>
                        <a:buNone/>
                        <a:tabLst>
                          <a:tab pos="457200" algn="l"/>
                        </a:tabLst>
                      </a:pPr>
                      <a:r>
                        <a:rPr lang="en-GB" sz="1200" dirty="0">
                          <a:effectLst/>
                        </a:rPr>
                        <a:t>Another deep learning framework</a:t>
                      </a:r>
                      <a:endParaRPr lang="en-IN"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15108067"/>
                  </a:ext>
                </a:extLst>
              </a:tr>
            </a:tbl>
          </a:graphicData>
        </a:graphic>
      </p:graphicFrame>
      <p:graphicFrame>
        <p:nvGraphicFramePr>
          <p:cNvPr id="6" name="Table 5">
            <a:extLst>
              <a:ext uri="{FF2B5EF4-FFF2-40B4-BE49-F238E27FC236}">
                <a16:creationId xmlns:a16="http://schemas.microsoft.com/office/drawing/2014/main" id="{90800F83-CECD-E2B7-FE86-8BCE4CDD6B11}"/>
              </a:ext>
            </a:extLst>
          </p:cNvPr>
          <p:cNvGraphicFramePr>
            <a:graphicFrameLocks noGrp="1"/>
          </p:cNvGraphicFramePr>
          <p:nvPr>
            <p:extLst>
              <p:ext uri="{D42A27DB-BD31-4B8C-83A1-F6EECF244321}">
                <p14:modId xmlns:p14="http://schemas.microsoft.com/office/powerpoint/2010/main" val="2421158438"/>
              </p:ext>
            </p:extLst>
          </p:nvPr>
        </p:nvGraphicFramePr>
        <p:xfrm>
          <a:off x="533400" y="2727326"/>
          <a:ext cx="5753100" cy="2999110"/>
        </p:xfrm>
        <a:graphic>
          <a:graphicData uri="http://schemas.openxmlformats.org/drawingml/2006/table">
            <a:tbl>
              <a:tblPr firstRow="1" firstCol="1" bandRow="1">
                <a:tableStyleId>{5C22544A-7EE6-4342-B048-85BDC9FD1C3A}</a:tableStyleId>
              </a:tblPr>
              <a:tblGrid>
                <a:gridCol w="2876550">
                  <a:extLst>
                    <a:ext uri="{9D8B030D-6E8A-4147-A177-3AD203B41FA5}">
                      <a16:colId xmlns:a16="http://schemas.microsoft.com/office/drawing/2014/main" val="347621358"/>
                    </a:ext>
                  </a:extLst>
                </a:gridCol>
                <a:gridCol w="2876550">
                  <a:extLst>
                    <a:ext uri="{9D8B030D-6E8A-4147-A177-3AD203B41FA5}">
                      <a16:colId xmlns:a16="http://schemas.microsoft.com/office/drawing/2014/main" val="1856960071"/>
                    </a:ext>
                  </a:extLst>
                </a:gridCol>
              </a:tblGrid>
              <a:tr h="0">
                <a:tc>
                  <a:txBody>
                    <a:bodyPr/>
                    <a:lstStyle/>
                    <a:p>
                      <a:pPr algn="just">
                        <a:lnSpc>
                          <a:spcPct val="150000"/>
                        </a:lnSpc>
                        <a:buNone/>
                      </a:pPr>
                      <a:r>
                        <a:rPr lang="en-GB" sz="1200">
                          <a:effectLst/>
                        </a:rPr>
                        <a:t>nibabel as nib</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For reading NIfTI medical image files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88679022"/>
                  </a:ext>
                </a:extLst>
              </a:tr>
              <a:tr h="0">
                <a:tc>
                  <a:txBody>
                    <a:bodyPr/>
                    <a:lstStyle/>
                    <a:p>
                      <a:pPr algn="just">
                        <a:lnSpc>
                          <a:spcPct val="150000"/>
                        </a:lnSpc>
                        <a:buNone/>
                      </a:pPr>
                      <a:r>
                        <a:rPr lang="en-GB" sz="1200">
                          <a:effectLst/>
                        </a:rPr>
                        <a:t>tensorflow as tf</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For TensorFlow functionality (though noted as optional)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05926969"/>
                  </a:ext>
                </a:extLst>
              </a:tr>
              <a:tr h="0">
                <a:tc>
                  <a:txBody>
                    <a:bodyPr/>
                    <a:lstStyle/>
                    <a:p>
                      <a:pPr algn="just">
                        <a:lnSpc>
                          <a:spcPct val="150000"/>
                        </a:lnSpc>
                        <a:buNone/>
                      </a:pPr>
                      <a:r>
                        <a:rPr lang="en-GB" sz="1200" dirty="0">
                          <a:effectLst/>
                        </a:rPr>
                        <a:t>torch</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PyTorch deep learning framework</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44281092"/>
                  </a:ext>
                </a:extLst>
              </a:tr>
              <a:tr h="0">
                <a:tc>
                  <a:txBody>
                    <a:bodyPr/>
                    <a:lstStyle/>
                    <a:p>
                      <a:pPr algn="just">
                        <a:lnSpc>
                          <a:spcPct val="150000"/>
                        </a:lnSpc>
                        <a:buNone/>
                      </a:pPr>
                      <a:r>
                        <a:rPr lang="en-GB" sz="1200" dirty="0" err="1">
                          <a:effectLst/>
                        </a:rPr>
                        <a:t>numpy</a:t>
                      </a:r>
                      <a:r>
                        <a:rPr lang="en-GB" sz="1200" dirty="0">
                          <a:effectLst/>
                        </a:rPr>
                        <a:t> as np</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For numerical computations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87368989"/>
                  </a:ext>
                </a:extLst>
              </a:tr>
              <a:tr h="0">
                <a:tc>
                  <a:txBody>
                    <a:bodyPr/>
                    <a:lstStyle/>
                    <a:p>
                      <a:pPr algn="just">
                        <a:lnSpc>
                          <a:spcPct val="150000"/>
                        </a:lnSpc>
                        <a:buNone/>
                      </a:pPr>
                      <a:r>
                        <a:rPr lang="en-GB" sz="1200">
                          <a:effectLst/>
                        </a:rPr>
                        <a:t>matplotlib.pyplot as plt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For plotting and visualization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3016703"/>
                  </a:ext>
                </a:extLst>
              </a:tr>
              <a:tr h="0">
                <a:tc>
                  <a:txBody>
                    <a:bodyPr/>
                    <a:lstStyle/>
                    <a:p>
                      <a:pPr algn="just">
                        <a:lnSpc>
                          <a:spcPct val="150000"/>
                        </a:lnSpc>
                        <a:buNone/>
                      </a:pPr>
                      <a:r>
                        <a:rPr lang="en-GB" sz="1200">
                          <a:effectLst/>
                        </a:rPr>
                        <a:t>segmentation_models_pytorch</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to use for image segmentation built in models.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87950026"/>
                  </a:ext>
                </a:extLst>
              </a:tr>
              <a:tr h="0">
                <a:tc>
                  <a:txBody>
                    <a:bodyPr/>
                    <a:lstStyle/>
                    <a:p>
                      <a:pPr algn="just">
                        <a:lnSpc>
                          <a:spcPct val="150000"/>
                        </a:lnSpc>
                        <a:buNone/>
                      </a:pPr>
                      <a:r>
                        <a:rPr lang="en-GB" sz="1200">
                          <a:effectLst/>
                        </a:rPr>
                        <a:t>SimpleITK as sitk</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For medical image processing</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88497488"/>
                  </a:ext>
                </a:extLst>
              </a:tr>
              <a:tr h="0">
                <a:tc>
                  <a:txBody>
                    <a:bodyPr/>
                    <a:lstStyle/>
                    <a:p>
                      <a:pPr algn="just">
                        <a:lnSpc>
                          <a:spcPct val="150000"/>
                        </a:lnSpc>
                        <a:buNone/>
                      </a:pPr>
                      <a:r>
                        <a:rPr lang="en-GB" sz="1200">
                          <a:effectLst/>
                        </a:rPr>
                        <a:t>tqdm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For progress bars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93532707"/>
                  </a:ext>
                </a:extLst>
              </a:tr>
              <a:tr h="0">
                <a:tc>
                  <a:txBody>
                    <a:bodyPr/>
                    <a:lstStyle/>
                    <a:p>
                      <a:pPr algn="just">
                        <a:lnSpc>
                          <a:spcPct val="150000"/>
                        </a:lnSpc>
                        <a:buNone/>
                      </a:pPr>
                      <a:r>
                        <a:rPr lang="en-GB" sz="1200">
                          <a:effectLst/>
                        </a:rPr>
                        <a:t>logging</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For logging messages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56244340"/>
                  </a:ext>
                </a:extLst>
              </a:tr>
              <a:tr h="0">
                <a:tc>
                  <a:txBody>
                    <a:bodyPr/>
                    <a:lstStyle/>
                    <a:p>
                      <a:pPr algn="just">
                        <a:lnSpc>
                          <a:spcPct val="150000"/>
                        </a:lnSpc>
                        <a:buNone/>
                      </a:pPr>
                      <a:r>
                        <a:rPr lang="en-GB" sz="1200">
                          <a:effectLst/>
                        </a:rPr>
                        <a:t>shutil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dirty="0">
                          <a:effectLst/>
                        </a:rPr>
                        <a:t>For file operations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02827674"/>
                  </a:ext>
                </a:extLst>
              </a:tr>
            </a:tbl>
          </a:graphicData>
        </a:graphic>
      </p:graphicFrame>
    </p:spTree>
    <p:extLst>
      <p:ext uri="{BB962C8B-B14F-4D97-AF65-F5344CB8AC3E}">
        <p14:creationId xmlns:p14="http://schemas.microsoft.com/office/powerpoint/2010/main" val="3229414348"/>
      </p:ext>
    </p:extLst>
  </p:cSld>
  <p:clrMapOvr>
    <a:masterClrMapping/>
  </p:clrMapOvr>
  <mc:AlternateContent xmlns:mc="http://schemas.openxmlformats.org/markup-compatibility/2006" xmlns:p14="http://schemas.microsoft.com/office/powerpoint/2010/main">
    <mc:Choice Requires="p14">
      <p:transition spd="slow" p14:dur="2000" advTm="28864"/>
    </mc:Choice>
    <mc:Fallback xmlns="">
      <p:transition spd="slow" advTm="2886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E1279-9DE1-251B-81AD-BB88D6C2FA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1ED289-142B-C565-9556-0B46C0BAD40B}"/>
              </a:ext>
            </a:extLst>
          </p:cNvPr>
          <p:cNvSpPr>
            <a:spLocks noGrp="1"/>
          </p:cNvSpPr>
          <p:nvPr>
            <p:ph idx="1"/>
          </p:nvPr>
        </p:nvSpPr>
        <p:spPr>
          <a:xfrm>
            <a:off x="304799" y="1131565"/>
            <a:ext cx="11768667" cy="5259710"/>
          </a:xfrm>
        </p:spPr>
        <p:txBody>
          <a:bodyPr>
            <a:normAutofit/>
          </a:bodyPr>
          <a:lstStyle/>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STEP 2(OPTIONAL) : MEDICAL IMAGE PRE_PROCESSING PIPELINE(ISLES-2022)</a:t>
            </a: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01BC62D-3311-D32A-3595-FEF2CE8691A1}"/>
              </a:ext>
            </a:extLst>
          </p:cNvPr>
          <p:cNvGraphicFramePr>
            <a:graphicFrameLocks noGrp="1"/>
          </p:cNvGraphicFramePr>
          <p:nvPr/>
        </p:nvGraphicFramePr>
        <p:xfrm>
          <a:off x="670982" y="3005359"/>
          <a:ext cx="9997018" cy="2320174"/>
        </p:xfrm>
        <a:graphic>
          <a:graphicData uri="http://schemas.openxmlformats.org/drawingml/2006/table">
            <a:tbl>
              <a:tblPr firstRow="1" firstCol="1" bandRow="1">
                <a:tableStyleId>{5C22544A-7EE6-4342-B048-85BDC9FD1C3A}</a:tableStyleId>
              </a:tblPr>
              <a:tblGrid>
                <a:gridCol w="4998509">
                  <a:extLst>
                    <a:ext uri="{9D8B030D-6E8A-4147-A177-3AD203B41FA5}">
                      <a16:colId xmlns:a16="http://schemas.microsoft.com/office/drawing/2014/main" val="1573468260"/>
                    </a:ext>
                  </a:extLst>
                </a:gridCol>
                <a:gridCol w="4998509">
                  <a:extLst>
                    <a:ext uri="{9D8B030D-6E8A-4147-A177-3AD203B41FA5}">
                      <a16:colId xmlns:a16="http://schemas.microsoft.com/office/drawing/2014/main" val="1539738811"/>
                    </a:ext>
                  </a:extLst>
                </a:gridCol>
              </a:tblGrid>
              <a:tr h="668288">
                <a:tc>
                  <a:txBody>
                    <a:bodyPr/>
                    <a:lstStyle/>
                    <a:p>
                      <a:pPr algn="just">
                        <a:lnSpc>
                          <a:spcPct val="150000"/>
                        </a:lnSpc>
                        <a:buNone/>
                      </a:pPr>
                      <a:r>
                        <a:rPr lang="en-GB" sz="1200">
                          <a:effectLst/>
                        </a:rPr>
                        <a:t>apply_n4_bias_correction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Removes intensity inhomogeneities from MRI images using N4 bias field correction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84008291"/>
                  </a:ext>
                </a:extLst>
              </a:tr>
              <a:tr h="668288">
                <a:tc>
                  <a:txBody>
                    <a:bodyPr/>
                    <a:lstStyle/>
                    <a:p>
                      <a:pPr algn="just">
                        <a:lnSpc>
                          <a:spcPct val="150000"/>
                        </a:lnSpc>
                        <a:buNone/>
                      </a:pPr>
                      <a:r>
                        <a:rPr lang="en-GB" sz="1200">
                          <a:effectLst/>
                        </a:rPr>
                        <a:t>register_image_and_mask</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Aligns images using registration with mutual information metric</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96320908"/>
                  </a:ext>
                </a:extLst>
              </a:tr>
              <a:tr h="315310">
                <a:tc>
                  <a:txBody>
                    <a:bodyPr/>
                    <a:lstStyle/>
                    <a:p>
                      <a:pPr algn="just">
                        <a:lnSpc>
                          <a:spcPct val="150000"/>
                        </a:lnSpc>
                        <a:buNone/>
                      </a:pPr>
                      <a:r>
                        <a:rPr lang="en-GB" sz="1200">
                          <a:effectLst/>
                        </a:rPr>
                        <a:t>create_comprehensive_overlay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a:effectLst/>
                        </a:rPr>
                        <a:t>Creates RGB overlays for visualization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78209598"/>
                  </a:ext>
                </a:extLst>
              </a:tr>
              <a:tr h="668288">
                <a:tc>
                  <a:txBody>
                    <a:bodyPr/>
                    <a:lstStyle/>
                    <a:p>
                      <a:pPr algn="just">
                        <a:lnSpc>
                          <a:spcPct val="150000"/>
                        </a:lnSpc>
                        <a:buNone/>
                      </a:pPr>
                      <a:r>
                        <a:rPr lang="en-GB" sz="1200">
                          <a:effectLst/>
                        </a:rPr>
                        <a:t>preprocess_subject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GB" sz="1200" dirty="0">
                          <a:effectLst/>
                        </a:rPr>
                        <a:t>Main function that processes an individual subject's data</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60915415"/>
                  </a:ext>
                </a:extLst>
              </a:tr>
            </a:tbl>
          </a:graphicData>
        </a:graphic>
      </p:graphicFrame>
    </p:spTree>
    <p:extLst>
      <p:ext uri="{BB962C8B-B14F-4D97-AF65-F5344CB8AC3E}">
        <p14:creationId xmlns:p14="http://schemas.microsoft.com/office/powerpoint/2010/main" val="1061192148"/>
      </p:ext>
    </p:extLst>
  </p:cSld>
  <p:clrMapOvr>
    <a:masterClrMapping/>
  </p:clrMapOvr>
  <mc:AlternateContent xmlns:mc="http://schemas.openxmlformats.org/markup-compatibility/2006" xmlns:p14="http://schemas.microsoft.com/office/powerpoint/2010/main">
    <mc:Choice Requires="p14">
      <p:transition spd="slow" p14:dur="2000" advTm="47917"/>
    </mc:Choice>
    <mc:Fallback xmlns="">
      <p:transition spd="slow" advTm="4791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B5AAC-E69F-920B-837D-94F89C02CA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3CC1A8-9FC3-11EF-7741-45EE63C10967}"/>
              </a:ext>
            </a:extLst>
          </p:cNvPr>
          <p:cNvSpPr>
            <a:spLocks noGrp="1"/>
          </p:cNvSpPr>
          <p:nvPr>
            <p:ph idx="1"/>
          </p:nvPr>
        </p:nvSpPr>
        <p:spPr>
          <a:xfrm>
            <a:off x="127000" y="59267"/>
            <a:ext cx="11734799" cy="6094941"/>
          </a:xfrm>
        </p:spPr>
        <p:txBody>
          <a:bodyPr>
            <a:normAutofit/>
          </a:bodyPr>
          <a:lstStyle/>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STEP 2 : HELPER FUNCTIONS AND DATALOADER.</a:t>
            </a: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FAAA4126-3E4D-8252-A30C-70F91E6A631C}"/>
              </a:ext>
            </a:extLst>
          </p:cNvPr>
          <p:cNvGraphicFramePr>
            <a:graphicFrameLocks noGrp="1"/>
          </p:cNvGraphicFramePr>
          <p:nvPr>
            <p:extLst>
              <p:ext uri="{D42A27DB-BD31-4B8C-83A1-F6EECF244321}">
                <p14:modId xmlns:p14="http://schemas.microsoft.com/office/powerpoint/2010/main" val="1773889856"/>
              </p:ext>
            </p:extLst>
          </p:nvPr>
        </p:nvGraphicFramePr>
        <p:xfrm>
          <a:off x="330201" y="1592262"/>
          <a:ext cx="10515600" cy="4351337"/>
        </p:xfrm>
        <a:graphic>
          <a:graphicData uri="http://schemas.openxmlformats.org/drawingml/2006/table">
            <a:tbl>
              <a:tblPr firstRow="1" firstCol="1" bandRow="1">
                <a:tableStyleId>{5C22544A-7EE6-4342-B048-85BDC9FD1C3A}</a:tableStyleId>
              </a:tblPr>
              <a:tblGrid>
                <a:gridCol w="5680627">
                  <a:extLst>
                    <a:ext uri="{9D8B030D-6E8A-4147-A177-3AD203B41FA5}">
                      <a16:colId xmlns:a16="http://schemas.microsoft.com/office/drawing/2014/main" val="2987873766"/>
                    </a:ext>
                  </a:extLst>
                </a:gridCol>
                <a:gridCol w="4834973">
                  <a:extLst>
                    <a:ext uri="{9D8B030D-6E8A-4147-A177-3AD203B41FA5}">
                      <a16:colId xmlns:a16="http://schemas.microsoft.com/office/drawing/2014/main" val="105591043"/>
                    </a:ext>
                  </a:extLst>
                </a:gridCol>
              </a:tblGrid>
              <a:tr h="572702">
                <a:tc>
                  <a:txBody>
                    <a:bodyPr/>
                    <a:lstStyle/>
                    <a:p>
                      <a:pPr marL="457200" algn="just" hangingPunct="0">
                        <a:lnSpc>
                          <a:spcPct val="115000"/>
                        </a:lnSpc>
                        <a:buNone/>
                        <a:tabLst>
                          <a:tab pos="457200" algn="l"/>
                        </a:tabLst>
                      </a:pPr>
                      <a:r>
                        <a:rPr lang="en-IN" sz="1100" dirty="0">
                          <a:effectLst/>
                        </a:rPr>
                        <a:t>Dice Loss/Score</a:t>
                      </a:r>
                      <a:endParaRPr lang="en-IN" sz="9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tc>
                  <a:txBody>
                    <a:bodyPr/>
                    <a:lstStyle/>
                    <a:p>
                      <a:pPr marL="457200" algn="just" hangingPunct="0">
                        <a:lnSpc>
                          <a:spcPct val="115000"/>
                        </a:lnSpc>
                        <a:buNone/>
                        <a:tabLst>
                          <a:tab pos="457200" algn="l"/>
                        </a:tabLst>
                      </a:pPr>
                      <a:r>
                        <a:rPr lang="en-IN" sz="1100">
                          <a:effectLst/>
                        </a:rPr>
                        <a:t>Implements Dice loss and Dice coefficient for segmentation evaluation.</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extLst>
                  <a:ext uri="{0D108BD9-81ED-4DB2-BD59-A6C34878D82A}">
                    <a16:rowId xmlns:a16="http://schemas.microsoft.com/office/drawing/2014/main" val="4080333744"/>
                  </a:ext>
                </a:extLst>
              </a:tr>
              <a:tr h="572702">
                <a:tc>
                  <a:txBody>
                    <a:bodyPr/>
                    <a:lstStyle/>
                    <a:p>
                      <a:pPr marL="457200" algn="just" hangingPunct="0">
                        <a:lnSpc>
                          <a:spcPct val="115000"/>
                        </a:lnSpc>
                        <a:buNone/>
                        <a:tabLst>
                          <a:tab pos="457200" algn="l"/>
                        </a:tabLst>
                      </a:pPr>
                      <a:r>
                        <a:rPr lang="en-IN" sz="1100">
                          <a:effectLst/>
                        </a:rPr>
                        <a:t>Padding/Cropping</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tc>
                  <a:txBody>
                    <a:bodyPr/>
                    <a:lstStyle/>
                    <a:p>
                      <a:pPr marL="457200" algn="just" hangingPunct="0">
                        <a:lnSpc>
                          <a:spcPct val="115000"/>
                        </a:lnSpc>
                        <a:buNone/>
                        <a:tabLst>
                          <a:tab pos="457200" algn="l"/>
                        </a:tabLst>
                      </a:pPr>
                      <a:r>
                        <a:rPr lang="en-IN" sz="1100">
                          <a:effectLst/>
                        </a:rPr>
                        <a:t>Functions to pad/crop 2D/3D tensors to required shapes for model compatibility.</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extLst>
                  <a:ext uri="{0D108BD9-81ED-4DB2-BD59-A6C34878D82A}">
                    <a16:rowId xmlns:a16="http://schemas.microsoft.com/office/drawing/2014/main" val="1979612632"/>
                  </a:ext>
                </a:extLst>
              </a:tr>
              <a:tr h="572702">
                <a:tc>
                  <a:txBody>
                    <a:bodyPr/>
                    <a:lstStyle/>
                    <a:p>
                      <a:pPr marL="457200" algn="just" hangingPunct="0">
                        <a:lnSpc>
                          <a:spcPct val="115000"/>
                        </a:lnSpc>
                        <a:buNone/>
                        <a:tabLst>
                          <a:tab pos="457200" algn="l"/>
                        </a:tabLst>
                      </a:pPr>
                      <a:r>
                        <a:rPr lang="en-IN" sz="1100">
                          <a:effectLst/>
                        </a:rPr>
                        <a:t>Evaluation Metrics</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tc>
                  <a:txBody>
                    <a:bodyPr/>
                    <a:lstStyle/>
                    <a:p>
                      <a:pPr marL="457200" algn="just" hangingPunct="0">
                        <a:lnSpc>
                          <a:spcPct val="115000"/>
                        </a:lnSpc>
                        <a:buNone/>
                        <a:tabLst>
                          <a:tab pos="457200" algn="l"/>
                        </a:tabLst>
                      </a:pPr>
                      <a:r>
                        <a:rPr lang="en-IN" sz="1100">
                          <a:effectLst/>
                        </a:rPr>
                        <a:t>Functions for Absolute Volume Difference (AVD) and pixel-wise F1 score.</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extLst>
                  <a:ext uri="{0D108BD9-81ED-4DB2-BD59-A6C34878D82A}">
                    <a16:rowId xmlns:a16="http://schemas.microsoft.com/office/drawing/2014/main" val="2317351221"/>
                  </a:ext>
                </a:extLst>
              </a:tr>
              <a:tr h="737101">
                <a:tc>
                  <a:txBody>
                    <a:bodyPr/>
                    <a:lstStyle/>
                    <a:p>
                      <a:pPr marL="457200" algn="just" hangingPunct="0">
                        <a:lnSpc>
                          <a:spcPct val="115000"/>
                        </a:lnSpc>
                        <a:buNone/>
                        <a:tabLst>
                          <a:tab pos="457200" algn="l"/>
                        </a:tabLst>
                      </a:pPr>
                      <a:r>
                        <a:rPr lang="en-IN" sz="1100">
                          <a:effectLst/>
                        </a:rPr>
                        <a:t>Visualization</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tc>
                  <a:txBody>
                    <a:bodyPr/>
                    <a:lstStyle/>
                    <a:p>
                      <a:pPr algn="just">
                        <a:lnSpc>
                          <a:spcPct val="150000"/>
                        </a:lnSpc>
                        <a:buNone/>
                      </a:pPr>
                      <a:r>
                        <a:rPr lang="en-IN" sz="1100">
                          <a:effectLst/>
                        </a:rPr>
                        <a:t>Functions to plot input images, ground truth masks, and predictions for 3D volumes (slice-by-slice).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982" marR="63982" marT="0" marB="0"/>
                </a:tc>
                <a:extLst>
                  <a:ext uri="{0D108BD9-81ED-4DB2-BD59-A6C34878D82A}">
                    <a16:rowId xmlns:a16="http://schemas.microsoft.com/office/drawing/2014/main" val="4193532936"/>
                  </a:ext>
                </a:extLst>
              </a:tr>
              <a:tr h="948065">
                <a:tc>
                  <a:txBody>
                    <a:bodyPr/>
                    <a:lstStyle/>
                    <a:p>
                      <a:pPr marL="457200" algn="just" hangingPunct="0">
                        <a:lnSpc>
                          <a:spcPct val="115000"/>
                        </a:lnSpc>
                        <a:buNone/>
                        <a:tabLst>
                          <a:tab pos="457200" algn="l"/>
                        </a:tabLst>
                      </a:pPr>
                      <a:r>
                        <a:rPr lang="en-IN" sz="1100">
                          <a:effectLst/>
                        </a:rPr>
                        <a:t>Custom Dataset</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tc>
                  <a:txBody>
                    <a:bodyPr/>
                    <a:lstStyle/>
                    <a:p>
                      <a:pPr algn="just">
                        <a:lnSpc>
                          <a:spcPct val="150000"/>
                        </a:lnSpc>
                        <a:buNone/>
                      </a:pPr>
                      <a:r>
                        <a:rPr lang="en-IN" sz="1100">
                          <a:effectLst/>
                        </a:rPr>
                        <a:t>ISLESDataset3D` loads DWI, ADC, and mask NIfTI files, stacks modalities, and returns tensors.</a:t>
                      </a:r>
                    </a:p>
                    <a:p>
                      <a:pPr marL="457200" algn="just" hangingPunct="0">
                        <a:lnSpc>
                          <a:spcPct val="115000"/>
                        </a:lnSpc>
                        <a:buNone/>
                        <a:tabLst>
                          <a:tab pos="457200" algn="l"/>
                        </a:tabLst>
                      </a:pPr>
                      <a:r>
                        <a:rPr lang="en-IN" sz="1100">
                          <a:effectLst/>
                        </a:rPr>
                        <a:t> </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extLst>
                  <a:ext uri="{0D108BD9-81ED-4DB2-BD59-A6C34878D82A}">
                    <a16:rowId xmlns:a16="http://schemas.microsoft.com/office/drawing/2014/main" val="436945943"/>
                  </a:ext>
                </a:extLst>
              </a:tr>
              <a:tr h="948065">
                <a:tc>
                  <a:txBody>
                    <a:bodyPr/>
                    <a:lstStyle/>
                    <a:p>
                      <a:pPr marL="457200" algn="just" hangingPunct="0">
                        <a:lnSpc>
                          <a:spcPct val="115000"/>
                        </a:lnSpc>
                        <a:buNone/>
                        <a:tabLst>
                          <a:tab pos="457200" algn="l"/>
                        </a:tabLst>
                      </a:pPr>
                      <a:r>
                        <a:rPr lang="en-IN" sz="1100">
                          <a:effectLst/>
                        </a:rPr>
                        <a:t>Pad Collate</a:t>
                      </a:r>
                      <a:endParaRPr lang="en-IN" sz="90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tc>
                  <a:txBody>
                    <a:bodyPr/>
                    <a:lstStyle/>
                    <a:p>
                      <a:pPr algn="just">
                        <a:lnSpc>
                          <a:spcPct val="150000"/>
                        </a:lnSpc>
                        <a:buNone/>
                      </a:pPr>
                      <a:r>
                        <a:rPr lang="en-IN" sz="1100" dirty="0">
                          <a:effectLst/>
                        </a:rPr>
                        <a:t>Custom collate function for </a:t>
                      </a:r>
                      <a:r>
                        <a:rPr lang="en-IN" sz="1100" dirty="0" err="1">
                          <a:effectLst/>
                        </a:rPr>
                        <a:t>DataLoader</a:t>
                      </a:r>
                      <a:r>
                        <a:rPr lang="en-IN" sz="1100" dirty="0">
                          <a:effectLst/>
                        </a:rPr>
                        <a:t> to pad batches to the largest shape in the batch.</a:t>
                      </a:r>
                    </a:p>
                    <a:p>
                      <a:pPr marL="457200" algn="just" hangingPunct="0">
                        <a:lnSpc>
                          <a:spcPct val="115000"/>
                        </a:lnSpc>
                        <a:buNone/>
                        <a:tabLst>
                          <a:tab pos="457200" algn="l"/>
                        </a:tabLst>
                      </a:pPr>
                      <a:r>
                        <a:rPr lang="en-IN" sz="1100" dirty="0">
                          <a:effectLst/>
                        </a:rPr>
                        <a:t> </a:t>
                      </a:r>
                      <a:endParaRPr lang="en-IN" sz="9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3982" marR="63982" marT="0" marB="0"/>
                </a:tc>
                <a:extLst>
                  <a:ext uri="{0D108BD9-81ED-4DB2-BD59-A6C34878D82A}">
                    <a16:rowId xmlns:a16="http://schemas.microsoft.com/office/drawing/2014/main" val="1119993084"/>
                  </a:ext>
                </a:extLst>
              </a:tr>
            </a:tbl>
          </a:graphicData>
        </a:graphic>
      </p:graphicFrame>
    </p:spTree>
    <p:extLst>
      <p:ext uri="{BB962C8B-B14F-4D97-AF65-F5344CB8AC3E}">
        <p14:creationId xmlns:p14="http://schemas.microsoft.com/office/powerpoint/2010/main" val="1727572755"/>
      </p:ext>
    </p:extLst>
  </p:cSld>
  <p:clrMapOvr>
    <a:masterClrMapping/>
  </p:clrMapOvr>
  <mc:AlternateContent xmlns:mc="http://schemas.openxmlformats.org/markup-compatibility/2006" xmlns:p14="http://schemas.microsoft.com/office/powerpoint/2010/main">
    <mc:Choice Requires="p14">
      <p:transition spd="slow" p14:dur="2000" advTm="47845"/>
    </mc:Choice>
    <mc:Fallback xmlns="">
      <p:transition spd="slow" advTm="4784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5EADE-328E-953A-6EE8-B59A7CDC35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E58B70-786C-7336-D764-0B25F4519087}"/>
              </a:ext>
            </a:extLst>
          </p:cNvPr>
          <p:cNvSpPr>
            <a:spLocks noGrp="1"/>
          </p:cNvSpPr>
          <p:nvPr>
            <p:ph idx="1"/>
          </p:nvPr>
        </p:nvSpPr>
        <p:spPr>
          <a:xfrm>
            <a:off x="59267" y="118534"/>
            <a:ext cx="12073465" cy="673946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STEP 3 :DATA LOADING AND MODEL DEFENITIONS.</a:t>
            </a:r>
          </a:p>
          <a:p>
            <a:pPr marL="0" lvl="0" indent="0">
              <a:buNone/>
            </a:pPr>
            <a:r>
              <a:rPr lang="en-IN" sz="2000" dirty="0">
                <a:latin typeface="Times New Roman" panose="02020603050405020304" pitchFamily="18" charset="0"/>
                <a:cs typeface="Times New Roman" panose="02020603050405020304" pitchFamily="18" charset="0"/>
              </a:rPr>
              <a:t>Loads the dataset using `ISLESDataset3D` and prepares a </a:t>
            </a:r>
            <a:r>
              <a:rPr lang="en-IN" sz="2000" dirty="0" err="1">
                <a:latin typeface="Times New Roman" panose="02020603050405020304" pitchFamily="18" charset="0"/>
                <a:cs typeface="Times New Roman" panose="02020603050405020304" pitchFamily="18" charset="0"/>
              </a:rPr>
              <a:t>DataLoader</a:t>
            </a:r>
            <a:r>
              <a:rPr lang="en-IN" sz="2000" dirty="0">
                <a:latin typeface="Times New Roman" panose="02020603050405020304" pitchFamily="18" charset="0"/>
                <a:cs typeface="Times New Roman" panose="02020603050405020304" pitchFamily="18" charset="0"/>
              </a:rPr>
              <a:t>.</a:t>
            </a:r>
          </a:p>
          <a:p>
            <a:pPr marL="0" lvl="0" indent="0">
              <a:buNone/>
            </a:pPr>
            <a:r>
              <a:rPr lang="en-IN" sz="2000" dirty="0">
                <a:latin typeface="Times New Roman" panose="02020603050405020304" pitchFamily="18" charset="0"/>
                <a:cs typeface="Times New Roman" panose="02020603050405020304" pitchFamily="18" charset="0"/>
              </a:rPr>
              <a:t>Defines a helper function `</a:t>
            </a:r>
            <a:r>
              <a:rPr lang="en-IN" sz="2000" dirty="0" err="1">
                <a:latin typeface="Times New Roman" panose="02020603050405020304" pitchFamily="18" charset="0"/>
                <a:cs typeface="Times New Roman" panose="02020603050405020304" pitchFamily="18" charset="0"/>
              </a:rPr>
              <a:t>get_smp_model</a:t>
            </a:r>
            <a:r>
              <a:rPr lang="en-IN" sz="2000" dirty="0">
                <a:latin typeface="Times New Roman" panose="02020603050405020304" pitchFamily="18" charset="0"/>
                <a:cs typeface="Times New Roman" panose="02020603050405020304" pitchFamily="18" charset="0"/>
              </a:rPr>
              <a:t>` to instantiate SMP models (</a:t>
            </a:r>
            <a:r>
              <a:rPr lang="en-IN" sz="2000" dirty="0" err="1">
                <a:latin typeface="Times New Roman" panose="02020603050405020304" pitchFamily="18" charset="0"/>
                <a:cs typeface="Times New Roman" panose="02020603050405020304" pitchFamily="18" charset="0"/>
              </a:rPr>
              <a:t>UNet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UNet</a:t>
            </a:r>
            <a:r>
              <a:rPr lang="en-IN" sz="2000" dirty="0">
                <a:latin typeface="Times New Roman" panose="02020603050405020304" pitchFamily="18" charset="0"/>
                <a:cs typeface="Times New Roman" panose="02020603050405020304" pitchFamily="18" charset="0"/>
              </a:rPr>
              <a:t>++, DeepLabV3+, </a:t>
            </a:r>
            <a:r>
              <a:rPr lang="en-IN" sz="2000" dirty="0" err="1">
                <a:latin typeface="Times New Roman" panose="02020603050405020304" pitchFamily="18" charset="0"/>
                <a:cs typeface="Times New Roman" panose="02020603050405020304" pitchFamily="18" charset="0"/>
              </a:rPr>
              <a:t>LinkNet</a:t>
            </a:r>
            <a:r>
              <a:rPr lang="en-IN" sz="2000" dirty="0">
                <a:latin typeface="Times New Roman" panose="02020603050405020304" pitchFamily="18" charset="0"/>
                <a:cs typeface="Times New Roman" panose="02020603050405020304" pitchFamily="18" charset="0"/>
              </a:rPr>
              <a:t>) with configurable encoders.</a:t>
            </a:r>
          </a:p>
          <a:p>
            <a:pPr marL="0" lvl="0" indent="0">
              <a:buNone/>
            </a:pPr>
            <a:r>
              <a:rPr lang="en-IN" sz="2000" dirty="0">
                <a:latin typeface="Times New Roman" panose="02020603050405020304" pitchFamily="18" charset="0"/>
                <a:cs typeface="Times New Roman" panose="02020603050405020304" pitchFamily="18" charset="0"/>
              </a:rPr>
              <a:t>Specifies a dictionary of model architectures for ensemble training.</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472A1F0-47A5-F3EA-8ACD-3B8BACF033E5}"/>
              </a:ext>
            </a:extLst>
          </p:cNvPr>
          <p:cNvPicPr>
            <a:picLocks noChangeAspect="1"/>
          </p:cNvPicPr>
          <p:nvPr/>
        </p:nvPicPr>
        <p:blipFill>
          <a:blip r:embed="rId2"/>
          <a:stretch>
            <a:fillRect/>
          </a:stretch>
        </p:blipFill>
        <p:spPr>
          <a:xfrm>
            <a:off x="2590800" y="1990782"/>
            <a:ext cx="4594860" cy="4445790"/>
          </a:xfrm>
          <a:prstGeom prst="rect">
            <a:avLst/>
          </a:prstGeom>
        </p:spPr>
      </p:pic>
    </p:spTree>
    <p:extLst>
      <p:ext uri="{BB962C8B-B14F-4D97-AF65-F5344CB8AC3E}">
        <p14:creationId xmlns:p14="http://schemas.microsoft.com/office/powerpoint/2010/main" val="867126902"/>
      </p:ext>
    </p:extLst>
  </p:cSld>
  <p:clrMapOvr>
    <a:masterClrMapping/>
  </p:clrMapOvr>
  <mc:AlternateContent xmlns:mc="http://schemas.openxmlformats.org/markup-compatibility/2006" xmlns:p14="http://schemas.microsoft.com/office/powerpoint/2010/main">
    <mc:Choice Requires="p14">
      <p:transition spd="slow" p14:dur="2000" advTm="41313"/>
    </mc:Choice>
    <mc:Fallback xmlns="">
      <p:transition spd="slow" advTm="4131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B68CB-5D0D-89A8-3C88-DC9AC2FF14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E461E2-6ECD-7956-7D79-3A0C2E4CE8AD}"/>
              </a:ext>
            </a:extLst>
          </p:cNvPr>
          <p:cNvSpPr>
            <a:spLocks noGrp="1"/>
          </p:cNvSpPr>
          <p:nvPr>
            <p:ph idx="1"/>
          </p:nvPr>
        </p:nvSpPr>
        <p:spPr>
          <a:xfrm>
            <a:off x="59267" y="118534"/>
            <a:ext cx="12073465" cy="6739466"/>
          </a:xfrm>
        </p:spPr>
        <p:txBody>
          <a:bodyPr>
            <a:normAutofit/>
          </a:bodyPr>
          <a:lstStyle/>
          <a:p>
            <a:pPr marL="0" indent="0" hangingPunct="0">
              <a:buNone/>
            </a:pPr>
            <a:r>
              <a:rPr lang="en-IN" sz="2400" u="sng" dirty="0">
                <a:latin typeface="Times New Roman" panose="02020603050405020304" pitchFamily="18" charset="0"/>
                <a:cs typeface="Times New Roman" panose="02020603050405020304" pitchFamily="18" charset="0"/>
              </a:rPr>
              <a:t>Step 4. Bagging (Model Averaging) Ensemble Training</a:t>
            </a:r>
          </a:p>
          <a:p>
            <a:r>
              <a:rPr lang="en-IN" sz="2400" dirty="0">
                <a:latin typeface="Times New Roman" panose="02020603050405020304" pitchFamily="18" charset="0"/>
                <a:cs typeface="Times New Roman" panose="02020603050405020304" pitchFamily="18" charset="0"/>
              </a:rPr>
              <a:t>Bagging: Trains multiple independent models (with different architectures/backbones) on the same data.</a:t>
            </a:r>
          </a:p>
          <a:p>
            <a:r>
              <a:rPr lang="en-IN" sz="2400" dirty="0">
                <a:latin typeface="Times New Roman" panose="02020603050405020304" pitchFamily="18" charset="0"/>
                <a:cs typeface="Times New Roman" panose="02020603050405020304" pitchFamily="18" charset="0"/>
              </a:rPr>
              <a:t>Training Loop: For each model, trains slice-by-slice (since SMP models are 2D), pads inputs to required size, computes Dice loss, and saves model weights.</a:t>
            </a:r>
          </a:p>
          <a:p>
            <a:r>
              <a:rPr lang="en-IN" sz="2400" dirty="0">
                <a:latin typeface="Times New Roman" panose="02020603050405020304" pitchFamily="18" charset="0"/>
                <a:cs typeface="Times New Roman" panose="02020603050405020304" pitchFamily="18" charset="0"/>
              </a:rPr>
              <a:t>Model Saving: Each trained model is saved to Google Drive and its path is stored in `</a:t>
            </a:r>
            <a:r>
              <a:rPr lang="en-IN" sz="2400" dirty="0" err="1">
                <a:latin typeface="Times New Roman" panose="02020603050405020304" pitchFamily="18" charset="0"/>
                <a:cs typeface="Times New Roman" panose="02020603050405020304" pitchFamily="18" charset="0"/>
              </a:rPr>
              <a:t>model_paths_dict</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pPr marL="0" indent="0" hangingPunct="0">
              <a:buNone/>
            </a:pPr>
            <a:r>
              <a:rPr lang="en-IN" u="sng" dirty="0">
                <a:latin typeface="Times New Roman" panose="02020603050405020304" pitchFamily="18" charset="0"/>
                <a:cs typeface="Times New Roman" panose="02020603050405020304" pitchFamily="18" charset="0"/>
              </a:rPr>
              <a:t>Step 5. Ensemble Prediction (Bagging)</a:t>
            </a:r>
          </a:p>
          <a:p>
            <a:pPr lvl="0"/>
            <a:r>
              <a:rPr lang="en-IN" sz="2400" dirty="0">
                <a:latin typeface="Times New Roman" panose="02020603050405020304" pitchFamily="18" charset="0"/>
                <a:cs typeface="Times New Roman" panose="02020603050405020304" pitchFamily="18" charset="0"/>
              </a:rPr>
              <a:t>Model Loading: Loads all trained models from `</a:t>
            </a:r>
            <a:r>
              <a:rPr lang="en-IN" sz="2400" dirty="0" err="1">
                <a:latin typeface="Times New Roman" panose="02020603050405020304" pitchFamily="18" charset="0"/>
                <a:cs typeface="Times New Roman" panose="02020603050405020304" pitchFamily="18" charset="0"/>
              </a:rPr>
              <a:t>model_paths_dict</a:t>
            </a:r>
            <a:r>
              <a:rPr lang="en-IN" sz="2400" dirty="0">
                <a:latin typeface="Times New Roman" panose="02020603050405020304" pitchFamily="18" charset="0"/>
                <a:cs typeface="Times New Roman" panose="02020603050405020304" pitchFamily="18" charset="0"/>
              </a:rPr>
              <a:t>`.</a:t>
            </a:r>
          </a:p>
          <a:p>
            <a:pPr lvl="0"/>
            <a:r>
              <a:rPr lang="en-IN" sz="2400" dirty="0">
                <a:latin typeface="Times New Roman" panose="02020603050405020304" pitchFamily="18" charset="0"/>
                <a:cs typeface="Times New Roman" panose="02020603050405020304" pitchFamily="18" charset="0"/>
              </a:rPr>
              <a:t>Ensemble Prediction: For a batch, each model predicts slice-by-slice; predictions are averaged and thresholder to produce the final mask.</a:t>
            </a:r>
          </a:p>
          <a:p>
            <a:pPr lvl="0"/>
            <a:r>
              <a:rPr lang="en-IN" sz="2400" dirty="0">
                <a:latin typeface="Times New Roman" panose="02020603050405020304" pitchFamily="18" charset="0"/>
                <a:cs typeface="Times New Roman" panose="02020603050405020304" pitchFamily="18" charset="0"/>
              </a:rPr>
              <a:t>Visualization: Plots DWI/ADC input, ground truth, and ensemble prediction for a slice containing a lesion</a:t>
            </a:r>
          </a:p>
          <a:p>
            <a:pPr marL="0" indent="0" hangingPunct="0">
              <a:buNone/>
            </a:pPr>
            <a:endParaRPr lang="en-IN" dirty="0"/>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9905535"/>
      </p:ext>
    </p:extLst>
  </p:cSld>
  <p:clrMapOvr>
    <a:masterClrMapping/>
  </p:clrMapOvr>
  <mc:AlternateContent xmlns:mc="http://schemas.openxmlformats.org/markup-compatibility/2006" xmlns:p14="http://schemas.microsoft.com/office/powerpoint/2010/main">
    <mc:Choice Requires="p14">
      <p:transition spd="slow" p14:dur="2000" advTm="110562"/>
    </mc:Choice>
    <mc:Fallback xmlns="">
      <p:transition spd="slow" advTm="11056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73452-D05D-A792-2505-4901B79ABB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B29842-611E-7273-0DFF-54E0782F7447}"/>
              </a:ext>
            </a:extLst>
          </p:cNvPr>
          <p:cNvSpPr>
            <a:spLocks noGrp="1"/>
          </p:cNvSpPr>
          <p:nvPr>
            <p:ph idx="1"/>
          </p:nvPr>
        </p:nvSpPr>
        <p:spPr>
          <a:xfrm>
            <a:off x="59267" y="118534"/>
            <a:ext cx="12073465" cy="6739466"/>
          </a:xfrm>
        </p:spPr>
        <p:txBody>
          <a:bodyPr>
            <a:normAutofit/>
          </a:bodyPr>
          <a:lstStyle/>
          <a:p>
            <a:pPr marL="0" indent="0" hangingPunct="0">
              <a:buNone/>
            </a:pPr>
            <a:endParaRPr lang="en-IN" dirty="0"/>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2692903-907E-E066-2687-A08202FB3128}"/>
              </a:ext>
            </a:extLst>
          </p:cNvPr>
          <p:cNvGraphicFramePr>
            <a:graphicFrameLocks noGrp="1"/>
          </p:cNvGraphicFramePr>
          <p:nvPr>
            <p:extLst>
              <p:ext uri="{D42A27DB-BD31-4B8C-83A1-F6EECF244321}">
                <p14:modId xmlns:p14="http://schemas.microsoft.com/office/powerpoint/2010/main" val="1845586745"/>
              </p:ext>
            </p:extLst>
          </p:nvPr>
        </p:nvGraphicFramePr>
        <p:xfrm>
          <a:off x="677333" y="2421772"/>
          <a:ext cx="7313084" cy="1007228"/>
        </p:xfrm>
        <a:graphic>
          <a:graphicData uri="http://schemas.openxmlformats.org/drawingml/2006/table">
            <a:tbl>
              <a:tblPr firstRow="1" firstCol="1" bandRow="1">
                <a:tableStyleId>{5C22544A-7EE6-4342-B048-85BDC9FD1C3A}</a:tableStyleId>
              </a:tblPr>
              <a:tblGrid>
                <a:gridCol w="3656542">
                  <a:extLst>
                    <a:ext uri="{9D8B030D-6E8A-4147-A177-3AD203B41FA5}">
                      <a16:colId xmlns:a16="http://schemas.microsoft.com/office/drawing/2014/main" val="3451834339"/>
                    </a:ext>
                  </a:extLst>
                </a:gridCol>
                <a:gridCol w="3656542">
                  <a:extLst>
                    <a:ext uri="{9D8B030D-6E8A-4147-A177-3AD203B41FA5}">
                      <a16:colId xmlns:a16="http://schemas.microsoft.com/office/drawing/2014/main" val="2700042267"/>
                    </a:ext>
                  </a:extLst>
                </a:gridCol>
              </a:tblGrid>
              <a:tr h="503614">
                <a:tc>
                  <a:txBody>
                    <a:bodyPr/>
                    <a:lstStyle/>
                    <a:p>
                      <a:pPr algn="just">
                        <a:lnSpc>
                          <a:spcPct val="150000"/>
                        </a:lnSpc>
                        <a:buNone/>
                      </a:pPr>
                      <a:r>
                        <a:rPr lang="en-IN" sz="1200">
                          <a:effectLst/>
                        </a:rPr>
                        <a:t>N_BOOSTING_MODELS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IN" sz="1200" dirty="0">
                          <a:effectLst/>
                        </a:rPr>
                        <a:t>3</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22795373"/>
                  </a:ext>
                </a:extLst>
              </a:tr>
              <a:tr h="503614">
                <a:tc>
                  <a:txBody>
                    <a:bodyPr/>
                    <a:lstStyle/>
                    <a:p>
                      <a:pPr algn="just">
                        <a:lnSpc>
                          <a:spcPct val="150000"/>
                        </a:lnSpc>
                        <a:buNone/>
                      </a:pPr>
                      <a:r>
                        <a:rPr lang="en-IN" sz="1200">
                          <a:effectLst/>
                        </a:rPr>
                        <a:t>BOOSTING_MODEL_CONFIG</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buNone/>
                      </a:pPr>
                      <a:r>
                        <a:rPr lang="en-IN" sz="1200" dirty="0">
                          <a:effectLst/>
                        </a:rPr>
                        <a:t>unet_resnet18</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99616155"/>
                  </a:ext>
                </a:extLst>
              </a:tr>
            </a:tbl>
          </a:graphicData>
        </a:graphic>
      </p:graphicFrame>
      <p:sp>
        <p:nvSpPr>
          <p:cNvPr id="4" name="Rectangle 1">
            <a:extLst>
              <a:ext uri="{FF2B5EF4-FFF2-40B4-BE49-F238E27FC236}">
                <a16:creationId xmlns:a16="http://schemas.microsoft.com/office/drawing/2014/main" id="{67BB05B2-0389-57CA-26B1-39F197B61A01}"/>
              </a:ext>
            </a:extLst>
          </p:cNvPr>
          <p:cNvSpPr>
            <a:spLocks noChangeArrowheads="1"/>
          </p:cNvSpPr>
          <p:nvPr/>
        </p:nvSpPr>
        <p:spPr bwMode="auto">
          <a:xfrm>
            <a:off x="245533" y="731067"/>
            <a:ext cx="11521017" cy="1426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400" b="0" i="0" u="none" strike="noStrike" cap="none" normalizeH="0" baseline="0" dirty="0">
                <a:ln>
                  <a:noFill/>
                </a:ln>
                <a:solidFill>
                  <a:srgbClr val="1F4D78"/>
                </a:solidFill>
                <a:effectLst/>
                <a:latin typeface="Times New Roman" panose="02020603050405020304" pitchFamily="18" charset="0"/>
                <a:ea typeface="Calibri" panose="020F0502020204030204" pitchFamily="34" charset="0"/>
                <a:cs typeface="Times New Roman" panose="02020603050405020304" pitchFamily="18" charset="0"/>
              </a:rPr>
              <a:t>S</a:t>
            </a:r>
            <a:r>
              <a:rPr kumimoji="0" lang="en-GB" altLang="en-US" sz="2400" b="0" i="0" u="none" strike="noStrike" cap="none" normalizeH="0" baseline="0" dirty="0" bmk="">
                <a:ln>
                  <a:noFill/>
                </a:ln>
                <a:solidFill>
                  <a:srgbClr val="1F4D78"/>
                </a:solidFill>
                <a:effectLst/>
                <a:latin typeface="Times New Roman" panose="02020603050405020304" pitchFamily="18" charset="0"/>
                <a:ea typeface="Calibri" panose="020F0502020204030204" pitchFamily="34" charset="0"/>
                <a:cs typeface="Times New Roman" panose="02020603050405020304" pitchFamily="18" charset="0"/>
              </a:rPr>
              <a:t>tep 6: Boosting ensemble</a:t>
            </a:r>
            <a:r>
              <a:rPr kumimoji="0" lang="en-GB" altLang="en-US" sz="2400" b="0" i="0" u="none" strike="noStrike" cap="none" normalizeH="0" baseline="0" dirty="0">
                <a:ln>
                  <a:noFill/>
                </a:ln>
                <a:solidFill>
                  <a:srgbClr val="1F4D78"/>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altLang="en-US" sz="2400" b="0" i="0" u="none" strike="noStrike" cap="none" normalizeH="0" baseline="0" dirty="0">
              <a:ln>
                <a:noFill/>
              </a:ln>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Boosting Setup: Creates a sequence of 3 models, </a:t>
            </a:r>
            <a:r>
              <a:rPr kumimoji="0" lang="en-GB" altLang="en-US" sz="20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UNet</a:t>
            </a:r>
            <a:r>
              <a:rPr kumimoji="0" lang="en-GB"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with ResNet18 backbone for all </a:t>
            </a:r>
            <a:r>
              <a:rPr kumimoji="0" lang="en-GB" altLang="en-US" sz="20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modelsBoosting</a:t>
            </a:r>
            <a:r>
              <a:rPr kumimoji="0" lang="en-GB"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Prediction: Loads boosting models, averages their predictions, and evaluates ensemble performance.</a:t>
            </a:r>
            <a:endPar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D81FA4E-0DB5-FF49-EEFA-86A9CE061B39}"/>
              </a:ext>
            </a:extLst>
          </p:cNvPr>
          <p:cNvSpPr txBox="1"/>
          <p:nvPr/>
        </p:nvSpPr>
        <p:spPr>
          <a:xfrm>
            <a:off x="321734" y="3693682"/>
            <a:ext cx="11743266" cy="2757165"/>
          </a:xfrm>
          <a:prstGeom prst="rect">
            <a:avLst/>
          </a:prstGeom>
          <a:noFill/>
        </p:spPr>
        <p:txBody>
          <a:bodyPr wrap="square">
            <a:spAutoFit/>
          </a:bodyPr>
          <a:lstStyle/>
          <a:p>
            <a:pPr algn="just" hangingPunct="0">
              <a:lnSpc>
                <a:spcPct val="115000"/>
              </a:lnSpc>
              <a:spcBef>
                <a:spcPts val="200"/>
              </a:spcBef>
              <a:buNone/>
              <a:tabLst>
                <a:tab pos="457200" algn="l"/>
              </a:tabLst>
            </a:pPr>
            <a:r>
              <a:rPr lang="en-IN" sz="2400" dirty="0">
                <a:solidFill>
                  <a:srgbClr val="1F4D78"/>
                </a:solidFill>
                <a:effectLst/>
                <a:latin typeface="Times New Roman" panose="02020603050405020304" pitchFamily="18" charset="0"/>
                <a:ea typeface="Calibri" panose="020F0502020204030204" pitchFamily="34" charset="0"/>
                <a:cs typeface="Times New Roman" panose="02020603050405020304" pitchFamily="18" charset="0"/>
              </a:rPr>
              <a:t>Step 7. Stacking Ensemble</a:t>
            </a:r>
            <a:endParaRPr lang="en-IN" sz="2400"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algn="just" hangingPunct="0">
              <a:lnSpc>
                <a:spcPct val="115000"/>
              </a:lnSpc>
              <a:buNone/>
              <a:tabLst>
                <a:tab pos="457200" algn="l"/>
              </a:tabLst>
            </a:pPr>
            <a:r>
              <a:rPr lang="en-IN" sz="1200" dirty="0">
                <a:effectLst/>
                <a:latin typeface="Arial" panose="020B0604020202020204" pitchFamily="34" charset="0"/>
                <a:ea typeface="Calibri" panose="020F0502020204030204" pitchFamily="34" charset="0"/>
              </a:rPr>
              <a:t> </a:t>
            </a:r>
            <a:endParaRPr lang="en-IN" sz="1200" dirty="0">
              <a:effectLst/>
              <a:latin typeface="Arial" panose="020B0604020202020204" pitchFamily="34" charset="0"/>
              <a:ea typeface="Times New Roman" panose="02020603050405020304" pitchFamily="18" charset="0"/>
            </a:endParaRPr>
          </a:p>
          <a:p>
            <a:pPr lvl="0" algn="just">
              <a:lnSpc>
                <a:spcPct val="150000"/>
              </a:lnSpc>
            </a:pPr>
            <a:r>
              <a:rPr lang="en-IN" sz="1800" dirty="0">
                <a:effectLst/>
                <a:latin typeface="Times New Roman" panose="02020603050405020304" pitchFamily="18" charset="0"/>
                <a:ea typeface="Calibri" panose="020F0502020204030204" pitchFamily="34" charset="0"/>
              </a:rPr>
              <a:t>Stacking Concept: Training several models, and then will use all model’s prediction for meta-model.</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r>
              <a:rPr lang="en-IN" sz="1800" dirty="0">
                <a:effectLst/>
                <a:latin typeface="Times New Roman" panose="02020603050405020304" pitchFamily="18" charset="0"/>
                <a:ea typeface="Calibri" panose="020F0502020204030204" pitchFamily="34" charset="0"/>
              </a:rPr>
              <a:t>Base Model Training: Trains and saves one instance of each architecture.</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r>
              <a:rPr lang="en-IN" sz="1800" dirty="0">
                <a:effectLst/>
                <a:latin typeface="Times New Roman" panose="02020603050405020304" pitchFamily="18" charset="0"/>
                <a:ea typeface="Calibri" panose="020F0502020204030204" pitchFamily="34" charset="0"/>
              </a:rPr>
              <a:t>Meta-Feature Generation: (Commented out) Would collect base model predictions on a validation set to use as input for the meta-model.</a:t>
            </a:r>
            <a:endParaRPr lang="en-IN" sz="1800" dirty="0">
              <a:effectLst/>
              <a:latin typeface="Times New Roman" panose="02020603050405020304" pitchFamily="18" charset="0"/>
              <a:ea typeface="Times New Roman" panose="02020603050405020304" pitchFamily="18" charset="0"/>
            </a:endParaRPr>
          </a:p>
          <a:p>
            <a:pPr lvl="0" algn="just">
              <a:lnSpc>
                <a:spcPct val="150000"/>
              </a:lnSpc>
            </a:pPr>
            <a:r>
              <a:rPr lang="en-IN" sz="1800" dirty="0">
                <a:effectLst/>
                <a:latin typeface="Times New Roman" panose="02020603050405020304" pitchFamily="18" charset="0"/>
                <a:ea typeface="Calibri" panose="020F0502020204030204" pitchFamily="34" charset="0"/>
              </a:rPr>
              <a:t>Meta-Model: (Commented out) Suggests a simple 3D CNN as a meta-model to combine base model outputs.</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66462087"/>
      </p:ext>
    </p:extLst>
  </p:cSld>
  <p:clrMapOvr>
    <a:masterClrMapping/>
  </p:clrMapOvr>
  <mc:AlternateContent xmlns:mc="http://schemas.openxmlformats.org/markup-compatibility/2006" xmlns:p14="http://schemas.microsoft.com/office/powerpoint/2010/main">
    <mc:Choice Requires="p14">
      <p:transition spd="slow" p14:dur="2000" advTm="88629"/>
    </mc:Choice>
    <mc:Fallback xmlns="">
      <p:transition spd="slow" advTm="8862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6695B-1EDE-1129-3800-9C821852CA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98D77B-487C-ADBA-D316-544374C117B5}"/>
              </a:ext>
            </a:extLst>
          </p:cNvPr>
          <p:cNvSpPr>
            <a:spLocks noGrp="1"/>
          </p:cNvSpPr>
          <p:nvPr>
            <p:ph idx="1"/>
          </p:nvPr>
        </p:nvSpPr>
        <p:spPr>
          <a:xfrm>
            <a:off x="1" y="0"/>
            <a:ext cx="12132732" cy="6858000"/>
          </a:xfrm>
        </p:spPr>
        <p:txBody>
          <a:bodyPr>
            <a:normAutofit/>
          </a:bodyPr>
          <a:lstStyle/>
          <a:p>
            <a:pPr marL="0" indent="0" hangingPunct="0">
              <a:buNone/>
            </a:pPr>
            <a:endParaRPr lang="en-IN" dirty="0"/>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35FF939F-C3F4-A413-0443-AE6339DD407D}"/>
              </a:ext>
            </a:extLst>
          </p:cNvPr>
          <p:cNvSpPr>
            <a:spLocks noChangeArrowheads="1"/>
          </p:cNvSpPr>
          <p:nvPr/>
        </p:nvSpPr>
        <p:spPr bwMode="auto">
          <a:xfrm>
            <a:off x="8467" y="-101017"/>
            <a:ext cx="11861800" cy="42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2400" b="0" i="0" u="none" strike="noStrike" cap="none" normalizeH="0" baseline="0" dirty="0">
                <a:ln>
                  <a:noFill/>
                </a:ln>
                <a:solidFill>
                  <a:srgbClr val="1F4D78"/>
                </a:solidFill>
                <a:effectLst/>
                <a:latin typeface="Times New Roman" panose="02020603050405020304" pitchFamily="18" charset="0"/>
                <a:ea typeface="Calibri" panose="020F0502020204030204" pitchFamily="34" charset="0"/>
                <a:cs typeface="Times New Roman" panose="02020603050405020304" pitchFamily="18" charset="0"/>
              </a:rPr>
              <a:t>S</a:t>
            </a:r>
            <a:r>
              <a:rPr kumimoji="0" lang="en-GB" altLang="en-US" sz="2400" b="0" i="0" u="none" strike="noStrike" cap="none" normalizeH="0" baseline="0" dirty="0" bmk="">
                <a:ln>
                  <a:noFill/>
                </a:ln>
                <a:solidFill>
                  <a:srgbClr val="1F4D78"/>
                </a:solidFill>
                <a:effectLst/>
                <a:latin typeface="Times New Roman" panose="02020603050405020304" pitchFamily="18" charset="0"/>
                <a:ea typeface="Calibri" panose="020F0502020204030204" pitchFamily="34" charset="0"/>
                <a:cs typeface="Times New Roman" panose="02020603050405020304" pitchFamily="18" charset="0"/>
              </a:rPr>
              <a:t>tep 8. Individual Model Evaluation</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GB" altLang="en-US" sz="2400" b="0" i="0" u="none" strike="noStrike" cap="none" normalizeH="0" baseline="0" dirty="0">
              <a:ln>
                <a:noFill/>
              </a:ln>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Evaluation: Loads each ensemble model, predicts on a batch, computes Dice, AVD, and F1 for each slice, and averages metrics.</a:t>
            </a:r>
          </a:p>
          <a:p>
            <a:pPr marL="0" marR="0" lvl="0" indent="0" algn="l" defTabSz="914400" rtl="0" eaLnBrk="0" fontAlgn="base" latinLnBrk="0" hangingPunct="0">
              <a:lnSpc>
                <a:spcPct val="100000"/>
              </a:lnSpc>
              <a:spcBef>
                <a:spcPct val="0"/>
              </a:spcBef>
              <a:spcAft>
                <a:spcPct val="0"/>
              </a:spcAft>
              <a:buClrTx/>
              <a:buSzTx/>
              <a:tabLst>
                <a:tab pos="457200" algn="l"/>
              </a:tabLst>
            </a:pPr>
            <a:endPar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Visualization: Plots predictions for a chosen slice for each individual model.</a:t>
            </a:r>
          </a:p>
          <a:p>
            <a:pPr marL="0" marR="0" lvl="0" indent="0" algn="l" defTabSz="914400" rtl="0" eaLnBrk="0" fontAlgn="base" latinLnBrk="0" hangingPunct="0">
              <a:lnSpc>
                <a:spcPct val="100000"/>
              </a:lnSpc>
              <a:spcBef>
                <a:spcPct val="0"/>
              </a:spcBef>
              <a:spcAft>
                <a:spcPct val="0"/>
              </a:spcAft>
              <a:buClrTx/>
              <a:buSzTx/>
              <a:tabLst>
                <a:tab pos="457200" algn="l"/>
              </a:tabLst>
            </a:pPr>
            <a:endPar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2000" b="0" i="0" u="sng"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Individual Model Evaluation Summary:</a:t>
            </a:r>
            <a:endPar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Model 0: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Dice=0.0027,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AVD=inf,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F1=0.0000</a:t>
            </a:r>
            <a:endPar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Model 1: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Dice=0.0057,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AVD=inf,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F1=0.0044</a:t>
            </a:r>
            <a:endParaRPr kumimoji="0" lang="en-GB"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Model 2: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Dice=0.7075,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AVD=31.2500, </a:t>
            </a:r>
            <a:r>
              <a:rPr kumimoji="0" lang="en-GB" altLang="en-US" sz="2000" b="0" i="0" u="none" strike="noStrike" cap="none" normalizeH="0" baseline="0" dirty="0" err="1">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Avg</a:t>
            </a:r>
            <a:r>
              <a:rPr kumimoji="0" lang="en-GB" altLang="en-US" sz="2000" b="0" i="0" u="none" strike="noStrike" cap="none" normalizeH="0" baseline="0" dirty="0">
                <a:ln>
                  <a:noFill/>
                </a:ln>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 F1=0.0000</a:t>
            </a:r>
            <a:br>
              <a:rPr lang="en-GB" altLang="en-US" sz="2000" dirty="0">
                <a:latin typeface="Times New Roman" panose="02020603050405020304" pitchFamily="18" charset="0"/>
                <a:ea typeface="Times New Roman" panose="02020603050405020304" pitchFamily="18" charset="0"/>
                <a:cs typeface="Times New Roman" panose="02020603050405020304" pitchFamily="18" charset="0"/>
              </a:rPr>
            </a:br>
            <a:r>
              <a:rPr lang="en-GB" altLang="en-US" sz="2000"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Model 3: </a:t>
            </a:r>
            <a:r>
              <a:rPr lang="en-GB" altLang="en-US" sz="2000" dirty="0" err="1">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Avg</a:t>
            </a:r>
            <a:r>
              <a:rPr lang="en-GB" altLang="en-US" sz="2000"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 Dice=0.0061, </a:t>
            </a:r>
            <a:r>
              <a:rPr lang="en-GB" altLang="en-US" sz="2000" dirty="0" err="1">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Avg</a:t>
            </a:r>
            <a:r>
              <a:rPr lang="en-GB" altLang="en-US" sz="2000"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 AVD=inf, </a:t>
            </a:r>
            <a:r>
              <a:rPr lang="en-GB" altLang="en-US" sz="2000" dirty="0" err="1">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Avg</a:t>
            </a:r>
            <a:r>
              <a:rPr lang="en-GB" altLang="en-US" sz="2000" dirty="0">
                <a:solidFill>
                  <a:srgbClr val="1F1F1F"/>
                </a:solidFill>
                <a:latin typeface="Times New Roman" panose="02020603050405020304" pitchFamily="18" charset="0"/>
                <a:ea typeface="Times New Roman" panose="02020603050405020304" pitchFamily="18" charset="0"/>
                <a:cs typeface="Times New Roman" panose="02020603050405020304" pitchFamily="18" charset="0"/>
              </a:rPr>
              <a:t> F1=0.0057</a:t>
            </a:r>
            <a:endParaRPr lang="en-GB"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GB"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pic>
        <p:nvPicPr>
          <p:cNvPr id="10241" name="Picture 1">
            <a:extLst>
              <a:ext uri="{FF2B5EF4-FFF2-40B4-BE49-F238E27FC236}">
                <a16:creationId xmlns:a16="http://schemas.microsoft.com/office/drawing/2014/main" id="{8EC42327-BC53-A80F-F2FB-C5097C43D6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375" y="4204228"/>
            <a:ext cx="6558492" cy="2535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460126"/>
      </p:ext>
    </p:extLst>
  </p:cSld>
  <p:clrMapOvr>
    <a:masterClrMapping/>
  </p:clrMapOvr>
  <mc:AlternateContent xmlns:mc="http://schemas.openxmlformats.org/markup-compatibility/2006" xmlns:p14="http://schemas.microsoft.com/office/powerpoint/2010/main">
    <mc:Choice Requires="p14">
      <p:transition spd="slow" p14:dur="2000" advTm="49640"/>
    </mc:Choice>
    <mc:Fallback xmlns="">
      <p:transition spd="slow" advTm="4964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10FB-F884-605E-F19E-56C24CB3F5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57570F-0F95-24EC-98AC-07CF344AF575}"/>
              </a:ext>
            </a:extLst>
          </p:cNvPr>
          <p:cNvSpPr>
            <a:spLocks noGrp="1"/>
          </p:cNvSpPr>
          <p:nvPr>
            <p:ph idx="1"/>
          </p:nvPr>
        </p:nvSpPr>
        <p:spPr>
          <a:xfrm>
            <a:off x="1" y="0"/>
            <a:ext cx="12132732" cy="6858000"/>
          </a:xfrm>
        </p:spPr>
        <p:txBody>
          <a:bodyPr>
            <a:normAutofit/>
          </a:bodyPr>
          <a:lstStyle/>
          <a:p>
            <a:pPr marL="0" indent="0" hangingPunct="0">
              <a:buNone/>
            </a:pPr>
            <a:endParaRPr lang="en-IN" dirty="0"/>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733ADDF-3DD3-496B-A1A5-D6D656E8F0E0}"/>
              </a:ext>
            </a:extLst>
          </p:cNvPr>
          <p:cNvGraphicFramePr>
            <a:graphicFrameLocks noGrp="1"/>
          </p:cNvGraphicFramePr>
          <p:nvPr>
            <p:extLst>
              <p:ext uri="{D42A27DB-BD31-4B8C-83A1-F6EECF244321}">
                <p14:modId xmlns:p14="http://schemas.microsoft.com/office/powerpoint/2010/main" val="3778211507"/>
              </p:ext>
            </p:extLst>
          </p:nvPr>
        </p:nvGraphicFramePr>
        <p:xfrm>
          <a:off x="152189" y="1412864"/>
          <a:ext cx="8780144" cy="1004719"/>
        </p:xfrm>
        <a:graphic>
          <a:graphicData uri="http://schemas.openxmlformats.org/drawingml/2006/table">
            <a:tbl>
              <a:tblPr firstRow="1" firstCol="1" bandRow="1">
                <a:tableStyleId>{5C22544A-7EE6-4342-B048-85BDC9FD1C3A}</a:tableStyleId>
              </a:tblPr>
              <a:tblGrid>
                <a:gridCol w="4816825">
                  <a:extLst>
                    <a:ext uri="{9D8B030D-6E8A-4147-A177-3AD203B41FA5}">
                      <a16:colId xmlns:a16="http://schemas.microsoft.com/office/drawing/2014/main" val="2814017392"/>
                    </a:ext>
                  </a:extLst>
                </a:gridCol>
                <a:gridCol w="3963319">
                  <a:extLst>
                    <a:ext uri="{9D8B030D-6E8A-4147-A177-3AD203B41FA5}">
                      <a16:colId xmlns:a16="http://schemas.microsoft.com/office/drawing/2014/main" val="3973981974"/>
                    </a:ext>
                  </a:extLst>
                </a:gridCol>
              </a:tblGrid>
              <a:tr h="597620">
                <a:tc>
                  <a:txBody>
                    <a:bodyPr/>
                    <a:lstStyle/>
                    <a:p>
                      <a:pPr marL="457200" algn="just" hangingPunct="0">
                        <a:lnSpc>
                          <a:spcPct val="115000"/>
                        </a:lnSpc>
                        <a:buNone/>
                        <a:tabLst>
                          <a:tab pos="457200" algn="l"/>
                        </a:tabLst>
                      </a:pPr>
                      <a:r>
                        <a:rPr lang="en-GB" sz="1200" dirty="0">
                          <a:effectLst/>
                        </a:rPr>
                        <a:t>Ensemble Prediction</a:t>
                      </a:r>
                      <a:endParaRPr lang="en-IN"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just" hangingPunct="0">
                        <a:lnSpc>
                          <a:spcPct val="115000"/>
                        </a:lnSpc>
                        <a:buNone/>
                        <a:tabLst>
                          <a:tab pos="457200" algn="l"/>
                        </a:tabLst>
                      </a:pPr>
                      <a:r>
                        <a:rPr lang="en-GB" sz="1200">
                          <a:effectLst/>
                        </a:rPr>
                        <a:t>This method Uses all loaded ensemble models to predict and average outputs on a batch.</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3632924"/>
                  </a:ext>
                </a:extLst>
              </a:tr>
              <a:tr h="394049">
                <a:tc>
                  <a:txBody>
                    <a:bodyPr/>
                    <a:lstStyle/>
                    <a:p>
                      <a:pPr marL="457200" algn="just" hangingPunct="0">
                        <a:lnSpc>
                          <a:spcPct val="115000"/>
                        </a:lnSpc>
                        <a:buNone/>
                        <a:tabLst>
                          <a:tab pos="457200" algn="l"/>
                        </a:tabLst>
                      </a:pPr>
                      <a:r>
                        <a:rPr lang="en-IN" sz="1200">
                          <a:effectLst/>
                        </a:rPr>
                        <a:t>Visualization</a:t>
                      </a:r>
                      <a:endParaRPr lang="en-IN"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algn="just" hangingPunct="0">
                        <a:lnSpc>
                          <a:spcPct val="115000"/>
                        </a:lnSpc>
                        <a:buNone/>
                        <a:tabLst>
                          <a:tab pos="457200" algn="l"/>
                        </a:tabLst>
                      </a:pPr>
                      <a:r>
                        <a:rPr lang="en-IN" sz="1200" dirty="0">
                          <a:effectLst/>
                        </a:rPr>
                        <a:t>This method plots ensemble prediction for a chosen slice.</a:t>
                      </a:r>
                      <a:endParaRPr lang="en-IN"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70390199"/>
                  </a:ext>
                </a:extLst>
              </a:tr>
            </a:tbl>
          </a:graphicData>
        </a:graphic>
      </p:graphicFrame>
      <p:sp>
        <p:nvSpPr>
          <p:cNvPr id="4" name="Rectangle 1">
            <a:extLst>
              <a:ext uri="{FF2B5EF4-FFF2-40B4-BE49-F238E27FC236}">
                <a16:creationId xmlns:a16="http://schemas.microsoft.com/office/drawing/2014/main" id="{93331F4A-EFC4-6F9A-9D2F-A3B975ACC7F2}"/>
              </a:ext>
            </a:extLst>
          </p:cNvPr>
          <p:cNvSpPr>
            <a:spLocks noChangeArrowheads="1"/>
          </p:cNvSpPr>
          <p:nvPr/>
        </p:nvSpPr>
        <p:spPr bwMode="auto">
          <a:xfrm>
            <a:off x="220134" y="690216"/>
            <a:ext cx="13206413" cy="71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2400" b="0" i="0" u="none" strike="noStrike" cap="none" normalizeH="0" baseline="0" dirty="0">
                <a:ln>
                  <a:noFill/>
                </a:ln>
                <a:solidFill>
                  <a:srgbClr val="1F4D78"/>
                </a:solidFill>
                <a:effectLst/>
                <a:latin typeface="Times New Roman" panose="02020603050405020304" pitchFamily="18" charset="0"/>
                <a:ea typeface="Calibri" panose="020F0502020204030204" pitchFamily="34" charset="0"/>
                <a:cs typeface="Times New Roman" panose="02020603050405020304" pitchFamily="18" charset="0"/>
              </a:rPr>
              <a:t>S</a:t>
            </a:r>
            <a:r>
              <a:rPr kumimoji="0" lang="en-GB" altLang="en-US" sz="2400" b="0" i="0" u="none" strike="noStrike" cap="none" normalizeH="0" baseline="0" dirty="0" bmk="">
                <a:ln>
                  <a:noFill/>
                </a:ln>
                <a:solidFill>
                  <a:srgbClr val="1F4D78"/>
                </a:solidFill>
                <a:effectLst/>
                <a:latin typeface="Times New Roman" panose="02020603050405020304" pitchFamily="18" charset="0"/>
                <a:ea typeface="Calibri" panose="020F0502020204030204" pitchFamily="34" charset="0"/>
                <a:cs typeface="Times New Roman" panose="02020603050405020304" pitchFamily="18" charset="0"/>
              </a:rPr>
              <a:t>tep 9. Ensemble Evaluation and Visualization</a:t>
            </a:r>
            <a:endParaRPr kumimoji="0" lang="en-GB" altLang="en-US" sz="2400" b="0" i="0" u="none" strike="noStrike" cap="none" normalizeH="0" baseline="0" dirty="0">
              <a:ln>
                <a:noFill/>
              </a:ln>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0184F27-3131-3D17-EE34-BBD4EF590EA4}"/>
              </a:ext>
            </a:extLst>
          </p:cNvPr>
          <p:cNvPicPr>
            <a:picLocks noChangeAspect="1"/>
          </p:cNvPicPr>
          <p:nvPr/>
        </p:nvPicPr>
        <p:blipFill>
          <a:blip r:embed="rId2"/>
          <a:stretch>
            <a:fillRect/>
          </a:stretch>
        </p:blipFill>
        <p:spPr>
          <a:xfrm>
            <a:off x="428730" y="3125221"/>
            <a:ext cx="2580005" cy="3025140"/>
          </a:xfrm>
          <a:prstGeom prst="rect">
            <a:avLst/>
          </a:prstGeom>
        </p:spPr>
      </p:pic>
      <p:pic>
        <p:nvPicPr>
          <p:cNvPr id="7" name="Picture 6">
            <a:extLst>
              <a:ext uri="{FF2B5EF4-FFF2-40B4-BE49-F238E27FC236}">
                <a16:creationId xmlns:a16="http://schemas.microsoft.com/office/drawing/2014/main" id="{90D88382-008A-C592-0959-D17A54B99205}"/>
              </a:ext>
            </a:extLst>
          </p:cNvPr>
          <p:cNvPicPr>
            <a:picLocks noChangeAspect="1"/>
          </p:cNvPicPr>
          <p:nvPr/>
        </p:nvPicPr>
        <p:blipFill>
          <a:blip r:embed="rId3"/>
          <a:stretch>
            <a:fillRect/>
          </a:stretch>
        </p:blipFill>
        <p:spPr>
          <a:xfrm>
            <a:off x="3455776" y="3125221"/>
            <a:ext cx="1945957" cy="2886522"/>
          </a:xfrm>
          <a:prstGeom prst="rect">
            <a:avLst/>
          </a:prstGeom>
        </p:spPr>
      </p:pic>
      <p:pic>
        <p:nvPicPr>
          <p:cNvPr id="8" name="Picture 7">
            <a:extLst>
              <a:ext uri="{FF2B5EF4-FFF2-40B4-BE49-F238E27FC236}">
                <a16:creationId xmlns:a16="http://schemas.microsoft.com/office/drawing/2014/main" id="{2E9BE941-D02D-4412-70ED-79D63E726BB2}"/>
              </a:ext>
            </a:extLst>
          </p:cNvPr>
          <p:cNvPicPr>
            <a:picLocks noChangeAspect="1"/>
          </p:cNvPicPr>
          <p:nvPr/>
        </p:nvPicPr>
        <p:blipFill>
          <a:blip r:embed="rId4"/>
          <a:stretch>
            <a:fillRect/>
          </a:stretch>
        </p:blipFill>
        <p:spPr>
          <a:xfrm>
            <a:off x="6096000" y="3125221"/>
            <a:ext cx="1945957" cy="2930486"/>
          </a:xfrm>
          <a:prstGeom prst="rect">
            <a:avLst/>
          </a:prstGeom>
        </p:spPr>
      </p:pic>
    </p:spTree>
    <p:extLst>
      <p:ext uri="{BB962C8B-B14F-4D97-AF65-F5344CB8AC3E}">
        <p14:creationId xmlns:p14="http://schemas.microsoft.com/office/powerpoint/2010/main" val="766606050"/>
      </p:ext>
    </p:extLst>
  </p:cSld>
  <p:clrMapOvr>
    <a:masterClrMapping/>
  </p:clrMapOvr>
  <mc:AlternateContent xmlns:mc="http://schemas.openxmlformats.org/markup-compatibility/2006" xmlns:p14="http://schemas.microsoft.com/office/powerpoint/2010/main">
    <mc:Choice Requires="p14">
      <p:transition spd="slow" p14:dur="2000" advTm="30602"/>
    </mc:Choice>
    <mc:Fallback xmlns="">
      <p:transition spd="slow" advTm="3060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7558F6-3933-9903-6994-6809E65A4B18}"/>
              </a:ext>
            </a:extLst>
          </p:cNvPr>
          <p:cNvSpPr>
            <a:spLocks noGrp="1"/>
          </p:cNvSpPr>
          <p:nvPr>
            <p:ph idx="1"/>
          </p:nvPr>
        </p:nvSpPr>
        <p:spPr>
          <a:xfrm>
            <a:off x="237066" y="651933"/>
            <a:ext cx="10917767" cy="5333736"/>
          </a:xfrm>
        </p:spPr>
        <p:txBody>
          <a:bodyPr>
            <a:normAutofit fontScale="92500" lnSpcReduction="10000"/>
          </a:bodyPr>
          <a:lstStyle/>
          <a:p>
            <a:pPr marL="0" indent="0" hangingPunct="0">
              <a:buNone/>
            </a:pPr>
            <a:r>
              <a:rPr lang="en-GB" b="1" dirty="0">
                <a:latin typeface="Times New Roman" panose="02020603050405020304" pitchFamily="18" charset="0"/>
                <a:cs typeface="Times New Roman" panose="02020603050405020304" pitchFamily="18" charset="0"/>
              </a:rPr>
              <a:t>A REVIEW ON ISLES'22 ISCHEMIC STROKE LESION SEGMENTATION CHALLENGE</a:t>
            </a:r>
            <a:endParaRPr lang="en-IN" b="1"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p>
            <a:pPr marL="0" indent="0" hangingPunct="0">
              <a:buNone/>
            </a:pPr>
            <a:r>
              <a:rPr lang="en-GB" dirty="0">
                <a:latin typeface="Times New Roman" panose="02020603050405020304" pitchFamily="18" charset="0"/>
                <a:cs typeface="Times New Roman" panose="02020603050405020304" pitchFamily="18" charset="0"/>
              </a:rPr>
              <a:t>Key Components of the Ensemble Learning Approach used in challenge</a:t>
            </a:r>
          </a:p>
          <a:p>
            <a:pPr marL="0" indent="0" hangingPunct="0">
              <a:buNone/>
            </a:pPr>
            <a:endParaRPr lang="en-IN" dirty="0">
              <a:latin typeface="Times New Roman" panose="02020603050405020304" pitchFamily="18" charset="0"/>
              <a:cs typeface="Times New Roman" panose="02020603050405020304" pitchFamily="18" charset="0"/>
            </a:endParaRPr>
          </a:p>
          <a:p>
            <a:pPr lvl="0" hangingPunct="0"/>
            <a:r>
              <a:rPr lang="en-GB" i="1" u="sng" dirty="0">
                <a:latin typeface="Times New Roman" panose="02020603050405020304" pitchFamily="18" charset="0"/>
                <a:cs typeface="Times New Roman" panose="02020603050405020304" pitchFamily="18" charset="0"/>
              </a:rPr>
              <a:t>Algorithm Combination:</a:t>
            </a:r>
            <a:r>
              <a:rPr lang="en-GB" dirty="0">
                <a:latin typeface="Times New Roman" panose="02020603050405020304" pitchFamily="18" charset="0"/>
                <a:cs typeface="Times New Roman" panose="02020603050405020304" pitchFamily="18" charset="0"/>
              </a:rPr>
              <a:t> The ensemble integrates the outputs of three top-performing segmentation algorithms from the ISLES'22 MICCAI Challenge. </a:t>
            </a:r>
          </a:p>
          <a:p>
            <a:pPr marL="0" lvl="0" indent="0" hangingPunct="0">
              <a:buNone/>
            </a:pPr>
            <a:endParaRPr lang="en-IN" dirty="0">
              <a:latin typeface="Times New Roman" panose="02020603050405020304" pitchFamily="18" charset="0"/>
              <a:cs typeface="Times New Roman" panose="02020603050405020304" pitchFamily="18" charset="0"/>
            </a:endParaRPr>
          </a:p>
          <a:p>
            <a:pPr lvl="0" hangingPunct="0"/>
            <a:r>
              <a:rPr lang="en-GB" i="1" u="sng" dirty="0">
                <a:latin typeface="Times New Roman" panose="02020603050405020304" pitchFamily="18" charset="0"/>
                <a:cs typeface="Times New Roman" panose="02020603050405020304" pitchFamily="18" charset="0"/>
              </a:rPr>
              <a:t>Majority Voting Mechanism:</a:t>
            </a:r>
            <a:r>
              <a:rPr lang="en-GB" dirty="0">
                <a:latin typeface="Times New Roman" panose="02020603050405020304" pitchFamily="18" charset="0"/>
                <a:cs typeface="Times New Roman" panose="02020603050405020304" pitchFamily="18" charset="0"/>
              </a:rPr>
              <a:t> Idea behind this method is the majority voting mechanism. Each of the three input algorithms processes the MRI data independently and produces a segmentation output. For each voxel in the image, the ensemble counts the votes for each possible label (e.g., lesion or non-lesion) from the three algorithms. The label that receives the most votes is assigned to the voxel.(de la Rosa et al., 2024b)</a:t>
            </a:r>
            <a:endParaRPr lang="en-IN" dirty="0">
              <a:latin typeface="Times New Roman" panose="02020603050405020304" pitchFamily="18" charset="0"/>
              <a:cs typeface="Times New Roman" panose="02020603050405020304" pitchFamily="18" charset="0"/>
            </a:endParaRPr>
          </a:p>
          <a:p>
            <a:pPr marL="0" indent="0">
              <a:buNone/>
            </a:pPr>
            <a:endParaRPr lang="en-IN" sz="1400" dirty="0"/>
          </a:p>
        </p:txBody>
      </p:sp>
    </p:spTree>
    <p:extLst>
      <p:ext uri="{BB962C8B-B14F-4D97-AF65-F5344CB8AC3E}">
        <p14:creationId xmlns:p14="http://schemas.microsoft.com/office/powerpoint/2010/main" val="3608761944"/>
      </p:ext>
    </p:extLst>
  </p:cSld>
  <p:clrMapOvr>
    <a:masterClrMapping/>
  </p:clrMapOvr>
  <mc:AlternateContent xmlns:mc="http://schemas.openxmlformats.org/markup-compatibility/2006" xmlns:p14="http://schemas.microsoft.com/office/powerpoint/2010/main">
    <mc:Choice Requires="p14">
      <p:transition spd="slow" p14:dur="2000" advTm="35395"/>
    </mc:Choice>
    <mc:Fallback xmlns="">
      <p:transition spd="slow" advTm="3539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26568-219A-7BD8-EA5E-C753D6FEA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C23A1-63DA-9AD0-C850-7FABE583D85B}"/>
              </a:ext>
            </a:extLst>
          </p:cNvPr>
          <p:cNvSpPr>
            <a:spLocks noGrp="1"/>
          </p:cNvSpPr>
          <p:nvPr>
            <p:ph type="title"/>
          </p:nvPr>
        </p:nvSpPr>
        <p:spPr>
          <a:xfrm>
            <a:off x="523875" y="193675"/>
            <a:ext cx="10648950" cy="777875"/>
          </a:xfrm>
        </p:spPr>
        <p:txBody>
          <a:bodyPr>
            <a:normAutofit/>
          </a:bodyPr>
          <a:lstStyle/>
          <a:p>
            <a:pPr algn="l"/>
            <a:r>
              <a:rPr lang="en-US" sz="2000" b="1" u="sng" dirty="0">
                <a:latin typeface="Times New Roman" panose="02020603050405020304" pitchFamily="18" charset="0"/>
                <a:cs typeface="Times New Roman" panose="02020603050405020304" pitchFamily="18" charset="0"/>
              </a:rPr>
              <a:t>Ensemble learning </a:t>
            </a:r>
            <a:r>
              <a:rPr lang="en-IN" sz="2000" b="1" u="sng" dirty="0">
                <a:latin typeface="Times New Roman" panose="02020603050405020304" pitchFamily="18" charset="0"/>
                <a:cs typeface="Times New Roman" panose="02020603050405020304" pitchFamily="18" charset="0"/>
              </a:rPr>
              <a:t>Discussion &amp; Results</a:t>
            </a:r>
            <a:br>
              <a:rPr lang="en-IN" sz="1000" b="0" i="0" dirty="0">
                <a:solidFill>
                  <a:srgbClr val="091E42"/>
                </a:solidFill>
                <a:effectLst/>
                <a:latin typeface="freight-text-pro"/>
              </a:rPr>
            </a:br>
            <a:br>
              <a:rPr lang="en-IN" sz="1000" dirty="0"/>
            </a:br>
            <a:endParaRPr lang="en-IN" sz="2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E1A4B0-70E2-85D5-EBB1-088427D43AD1}"/>
              </a:ext>
            </a:extLst>
          </p:cNvPr>
          <p:cNvSpPr>
            <a:spLocks noGrp="1"/>
          </p:cNvSpPr>
          <p:nvPr>
            <p:ph idx="1"/>
          </p:nvPr>
        </p:nvSpPr>
        <p:spPr>
          <a:xfrm>
            <a:off x="523875" y="971550"/>
            <a:ext cx="11506200" cy="5692775"/>
          </a:xfrm>
        </p:spPr>
        <p:txBody>
          <a:bodyPr>
            <a:normAutofit fontScale="25000" lnSpcReduction="20000"/>
          </a:bodyPr>
          <a:lstStyle/>
          <a:p>
            <a:pPr marL="0" indent="0">
              <a:lnSpc>
                <a:spcPct val="120000"/>
              </a:lnSpc>
              <a:buNone/>
            </a:pPr>
            <a:r>
              <a:rPr lang="en-US" sz="7200" dirty="0">
                <a:latin typeface="Times New Roman" panose="02020603050405020304" pitchFamily="18" charset="0"/>
                <a:cs typeface="Times New Roman" panose="02020603050405020304" pitchFamily="18" charset="0"/>
              </a:rPr>
              <a:t>The ensemble leverages the strengths of the top three leading algorithms and employs a majority-voting scheme to predict ischemic stroke lesions from MRI data, thereby enhancing the robustness and accuracy of the predictions.</a:t>
            </a:r>
            <a:br>
              <a:rPr lang="en-US" sz="7200" dirty="0">
                <a:latin typeface="Times New Roman" panose="02020603050405020304" pitchFamily="18" charset="0"/>
                <a:cs typeface="Times New Roman" panose="02020603050405020304" pitchFamily="18" charset="0"/>
              </a:rPr>
            </a:br>
            <a:br>
              <a:rPr lang="en-US" sz="7200" dirty="0">
                <a:latin typeface="Times New Roman" panose="02020603050405020304" pitchFamily="18" charset="0"/>
                <a:cs typeface="Times New Roman" panose="02020603050405020304" pitchFamily="18" charset="0"/>
              </a:rPr>
            </a:br>
            <a:r>
              <a:rPr lang="en-US" sz="7200" i="1" u="sng" dirty="0">
                <a:latin typeface="Times New Roman" panose="02020603050405020304" pitchFamily="18" charset="0"/>
                <a:cs typeface="Times New Roman" panose="02020603050405020304" pitchFamily="18" charset="0"/>
              </a:rPr>
              <a:t>Key Components of the Ensemble</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The ensemble algorithm is constructed from three major algorithms, each contributing uniquely to the final prediction output. The combination allows the model to integrate diverse methodological strengths, balancing the limitations of individual models.</a:t>
            </a:r>
          </a:p>
          <a:p>
            <a:pPr marL="0" indent="0">
              <a:lnSpc>
                <a:spcPct val="120000"/>
              </a:lnSpc>
              <a:buNone/>
            </a:pPr>
            <a:r>
              <a:rPr lang="en-US" sz="7200" i="1" dirty="0">
                <a:latin typeface="Times New Roman" panose="02020603050405020304" pitchFamily="18" charset="0"/>
                <a:cs typeface="Times New Roman" panose="02020603050405020304" pitchFamily="18" charset="0"/>
              </a:rPr>
              <a:t>Result Generation: </a:t>
            </a:r>
            <a:r>
              <a:rPr lang="en-US" sz="7200" dirty="0">
                <a:latin typeface="Times New Roman" panose="02020603050405020304" pitchFamily="18" charset="0"/>
                <a:cs typeface="Times New Roman" panose="02020603050405020304" pitchFamily="18" charset="0"/>
              </a:rPr>
              <a:t>The final segmentation map is compiled from the majority vote results for each voxel, thereby creating a consensus-based output that aims to be more accurate than individual algorithm predictions.(de la Rosa et al., 2024a)</a:t>
            </a:r>
          </a:p>
          <a:p>
            <a:pPr marL="0" indent="0">
              <a:lnSpc>
                <a:spcPct val="120000"/>
              </a:lnSpc>
              <a:buNone/>
            </a:pPr>
            <a:br>
              <a:rPr lang="en-US" sz="7200" dirty="0">
                <a:latin typeface="Times New Roman" panose="02020603050405020304" pitchFamily="18" charset="0"/>
                <a:cs typeface="Times New Roman" panose="02020603050405020304" pitchFamily="18" charset="0"/>
              </a:rPr>
            </a:br>
            <a:r>
              <a:rPr lang="en-US" sz="7200" u="sng" dirty="0">
                <a:latin typeface="Times New Roman" panose="02020603050405020304" pitchFamily="18" charset="0"/>
                <a:cs typeface="Times New Roman" panose="02020603050405020304" pitchFamily="18" charset="0"/>
              </a:rPr>
              <a:t>Performance and Validation</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The ensemble demonstrated remarkable performance on the ISLES 2022 challenge dataset, achieving a median Dice score of 0.82 and a median lesion-wise F1 score of 0.86</a:t>
            </a:r>
            <a:br>
              <a:rPr lang="en-US" sz="6400" dirty="0">
                <a:latin typeface="Times New Roman" panose="02020603050405020304" pitchFamily="18" charset="0"/>
                <a:cs typeface="Times New Roman" panose="02020603050405020304" pitchFamily="18" charset="0"/>
              </a:rPr>
            </a:br>
            <a:endParaRPr lang="en-US" sz="6400" dirty="0">
              <a:latin typeface="Times New Roman" panose="02020603050405020304" pitchFamily="18" charset="0"/>
              <a:cs typeface="Times New Roman" panose="02020603050405020304" pitchFamily="18" charset="0"/>
            </a:endParaRPr>
          </a:p>
          <a:p>
            <a:pPr marL="0" indent="0">
              <a:lnSpc>
                <a:spcPct val="120000"/>
              </a:lnSpc>
              <a:buNone/>
            </a:pPr>
            <a:r>
              <a:rPr lang="en-US" sz="7200" dirty="0">
                <a:latin typeface="Times New Roman" panose="02020603050405020304" pitchFamily="18" charset="0"/>
                <a:cs typeface="Times New Roman" panose="02020603050405020304" pitchFamily="18" charset="0"/>
              </a:rPr>
              <a:t> Ensembled Algorithms</a:t>
            </a:r>
          </a:p>
          <a:p>
            <a:pPr marL="0" indent="0">
              <a:lnSpc>
                <a:spcPct val="120000"/>
              </a:lnSpc>
              <a:buNone/>
            </a:pPr>
            <a:r>
              <a:rPr lang="en-US" sz="7200" dirty="0">
                <a:latin typeface="Times New Roman" panose="02020603050405020304" pitchFamily="18" charset="0"/>
                <a:cs typeface="Times New Roman" panose="02020603050405020304" pitchFamily="18" charset="0"/>
              </a:rPr>
              <a:t>• SEALS - based on </a:t>
            </a:r>
            <a:r>
              <a:rPr lang="en-US" sz="7200" dirty="0" err="1">
                <a:latin typeface="Times New Roman" panose="02020603050405020304" pitchFamily="18" charset="0"/>
                <a:cs typeface="Times New Roman" panose="02020603050405020304" pitchFamily="18" charset="0"/>
              </a:rPr>
              <a:t>nnUnet</a:t>
            </a:r>
            <a:r>
              <a:rPr lang="en-US" sz="7200" dirty="0">
                <a:latin typeface="Times New Roman" panose="02020603050405020304" pitchFamily="18" charset="0"/>
                <a:cs typeface="Times New Roman" panose="02020603050405020304" pitchFamily="18" charset="0"/>
              </a:rPr>
              <a:t>.</a:t>
            </a:r>
          </a:p>
          <a:p>
            <a:pPr marL="0" indent="0">
              <a:lnSpc>
                <a:spcPct val="120000"/>
              </a:lnSpc>
              <a:buNone/>
            </a:pPr>
            <a:r>
              <a:rPr lang="en-US" sz="7200" dirty="0">
                <a:latin typeface="Times New Roman" panose="02020603050405020304" pitchFamily="18" charset="0"/>
                <a:cs typeface="Times New Roman" panose="02020603050405020304" pitchFamily="18" charset="0"/>
              </a:rPr>
              <a:t>• NVAUTO - based on MONAI Auto3dseg. </a:t>
            </a:r>
          </a:p>
          <a:p>
            <a:pPr marL="0" indent="0">
              <a:lnSpc>
                <a:spcPct val="120000"/>
              </a:lnSpc>
              <a:buNone/>
            </a:pPr>
            <a:r>
              <a:rPr lang="en-US" sz="7200" dirty="0">
                <a:latin typeface="Times New Roman" panose="02020603050405020304" pitchFamily="18" charset="0"/>
                <a:cs typeface="Times New Roman" panose="02020603050405020304" pitchFamily="18" charset="0"/>
              </a:rPr>
              <a:t>• SWAN - based on FACTORIZER. </a:t>
            </a:r>
            <a:br>
              <a:rPr lang="en-US" sz="2800"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312832"/>
      </p:ext>
    </p:extLst>
  </p:cSld>
  <p:clrMapOvr>
    <a:masterClrMapping/>
  </p:clrMapOvr>
  <mc:AlternateContent xmlns:mc="http://schemas.openxmlformats.org/markup-compatibility/2006" xmlns:p14="http://schemas.microsoft.com/office/powerpoint/2010/main">
    <mc:Choice Requires="p14">
      <p:transition spd="slow" p14:dur="2000" advTm="77344"/>
    </mc:Choice>
    <mc:Fallback xmlns="">
      <p:transition spd="slow" advTm="7734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EF3C8-22F7-EC54-E2C9-FAB7EB982E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3FE9F7-1F7A-1FA6-EEAD-BCA640BB7EDC}"/>
              </a:ext>
            </a:extLst>
          </p:cNvPr>
          <p:cNvSpPr>
            <a:spLocks noGrp="1"/>
          </p:cNvSpPr>
          <p:nvPr>
            <p:ph idx="1"/>
          </p:nvPr>
        </p:nvSpPr>
        <p:spPr>
          <a:xfrm>
            <a:off x="400050" y="676276"/>
            <a:ext cx="11630025" cy="5988050"/>
          </a:xfrm>
        </p:spPr>
        <p:txBody>
          <a:bodyPr>
            <a:normAutofit/>
          </a:bodyPr>
          <a:lstStyle/>
          <a:p>
            <a:pPr marL="0" indent="0">
              <a:lnSpc>
                <a:spcPct val="100000"/>
              </a:lnSpc>
              <a:buNone/>
            </a:pPr>
            <a:r>
              <a:rPr lang="en-US" sz="2000" b="1" u="sng" dirty="0">
                <a:latin typeface="Times New Roman" panose="02020603050405020304" pitchFamily="18" charset="0"/>
                <a:cs typeface="Times New Roman" panose="02020603050405020304" pitchFamily="18" charset="0"/>
              </a:rPr>
              <a:t>CONCLUSION</a:t>
            </a:r>
          </a:p>
          <a:p>
            <a:pPr>
              <a:lnSpc>
                <a:spcPct val="100000"/>
              </a:lnSpc>
            </a:pPr>
            <a:r>
              <a:rPr lang="en-US" sz="2000" dirty="0">
                <a:latin typeface="Times New Roman" panose="02020603050405020304" pitchFamily="18" charset="0"/>
                <a:cs typeface="Times New Roman" panose="02020603050405020304" pitchFamily="18" charset="0"/>
              </a:rPr>
              <a:t>The ISLES'22 challenge marked a significant advancement in the development of automated methods for ischemic stroke lesion segmentation using a diverse dataset. </a:t>
            </a:r>
          </a:p>
          <a:p>
            <a:pPr>
              <a:lnSpc>
                <a:spcPct val="100000"/>
              </a:lnSpc>
            </a:pPr>
            <a:r>
              <a:rPr lang="en-US" sz="2000" dirty="0">
                <a:latin typeface="Times New Roman" panose="02020603050405020304" pitchFamily="18" charset="0"/>
                <a:cs typeface="Times New Roman" panose="02020603050405020304" pitchFamily="18" charset="0"/>
              </a:rPr>
              <a:t>The challenge facilitated the creation of various segmentation algorithms that leveraged diffusion-weighted MRI (DWI) data to improve the identification of ischemic lesions. </a:t>
            </a:r>
          </a:p>
          <a:p>
            <a:pPr>
              <a:lnSpc>
                <a:spcPct val="100000"/>
              </a:lnSpc>
            </a:pPr>
            <a:r>
              <a:rPr lang="en-US" sz="2000" dirty="0">
                <a:latin typeface="Times New Roman" panose="02020603050405020304" pitchFamily="18" charset="0"/>
                <a:cs typeface="Times New Roman" panose="02020603050405020304" pitchFamily="18" charset="0"/>
              </a:rPr>
              <a:t>​The introduction of a robust ensemble algorithm, which combined the strengths of multiple algorithms, resulted in substantial improvements in segmentation accuracy and clinical applicability.​</a:t>
            </a:r>
          </a:p>
          <a:p>
            <a:pPr>
              <a:lnSpc>
                <a:spcPct val="100000"/>
              </a:lnSpc>
            </a:pPr>
            <a:r>
              <a:rPr lang="en-US" sz="2000" dirty="0">
                <a:latin typeface="Times New Roman" panose="02020603050405020304" pitchFamily="18" charset="0"/>
                <a:cs typeface="Times New Roman" panose="02020603050405020304" pitchFamily="18" charset="0"/>
              </a:rPr>
              <a:t>This ensemble model demonstrated superior ischemic lesion detection, with a median Dice score of 0.82 and a median lesion-wise F1 score of 0.86, outperforming individual algorithm performances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lnSpc>
                <a:spcPct val="100000"/>
              </a:lnSpc>
              <a:buNone/>
            </a:pPr>
            <a:r>
              <a:rPr lang="en-IN" sz="2000" b="1" u="sng" dirty="0">
                <a:latin typeface="Times New Roman" panose="02020603050405020304" pitchFamily="18" charset="0"/>
                <a:cs typeface="Times New Roman" panose="02020603050405020304" pitchFamily="18" charset="0"/>
              </a:rPr>
              <a:t>Future Work Directions</a:t>
            </a:r>
          </a:p>
          <a:p>
            <a:pPr>
              <a:lnSpc>
                <a:spcPct val="100000"/>
              </a:lnSpc>
            </a:pPr>
            <a:r>
              <a:rPr lang="en-US" sz="2000" dirty="0">
                <a:latin typeface="Times New Roman" panose="02020603050405020304" pitchFamily="18" charset="0"/>
                <a:cs typeface="Times New Roman" panose="02020603050405020304" pitchFamily="18" charset="0"/>
              </a:rPr>
              <a:t>Future research should explore advanced data augmentation techniques to further enhance model robustness and performance </a:t>
            </a:r>
          </a:p>
          <a:p>
            <a:pPr>
              <a:lnSpc>
                <a:spcPct val="100000"/>
              </a:lnSpc>
            </a:pPr>
            <a:r>
              <a:rPr lang="en-US" sz="2000" dirty="0">
                <a:latin typeface="Times New Roman" panose="02020603050405020304" pitchFamily="18" charset="0"/>
                <a:cs typeface="Times New Roman" panose="02020603050405020304" pitchFamily="18" charset="0"/>
              </a:rPr>
              <a:t>ISLES’24 – this challenge aims to segment the final stroke infarct from pre-interventional acute stroke data.</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920741"/>
      </p:ext>
    </p:extLst>
  </p:cSld>
  <p:clrMapOvr>
    <a:masterClrMapping/>
  </p:clrMapOvr>
  <mc:AlternateContent xmlns:mc="http://schemas.openxmlformats.org/markup-compatibility/2006" xmlns:p14="http://schemas.microsoft.com/office/powerpoint/2010/main">
    <mc:Choice Requires="p14">
      <p:transition spd="slow" p14:dur="2000" advTm="122050"/>
    </mc:Choice>
    <mc:Fallback xmlns="">
      <p:transition spd="slow" advTm="12205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5B477-A61D-1507-AC8C-1554592CD4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3177F-0546-FA49-E571-FABCE74854D3}"/>
              </a:ext>
            </a:extLst>
          </p:cNvPr>
          <p:cNvSpPr>
            <a:spLocks noGrp="1"/>
          </p:cNvSpPr>
          <p:nvPr>
            <p:ph idx="1"/>
          </p:nvPr>
        </p:nvSpPr>
        <p:spPr>
          <a:xfrm>
            <a:off x="400050" y="676276"/>
            <a:ext cx="11630025" cy="5988050"/>
          </a:xfrm>
        </p:spPr>
        <p:txBody>
          <a:bodyPr>
            <a:normAutofit/>
          </a:bodyPr>
          <a:lstStyle/>
          <a:p>
            <a:pPr marL="0" indent="0" algn="ctr">
              <a:lnSpc>
                <a:spcPct val="100000"/>
              </a:lnSpc>
              <a:buNone/>
            </a:pPr>
            <a:endParaRPr lang="en-IN" sz="2000" b="1" u="sng" dirty="0">
              <a:latin typeface="Times New Roman" panose="02020603050405020304" pitchFamily="18" charset="0"/>
              <a:cs typeface="Times New Roman" panose="02020603050405020304" pitchFamily="18" charset="0"/>
            </a:endParaRPr>
          </a:p>
          <a:p>
            <a:pPr marL="0" indent="0" algn="ctr">
              <a:lnSpc>
                <a:spcPct val="100000"/>
              </a:lnSpc>
              <a:buNone/>
            </a:pPr>
            <a:endParaRPr lang="en-IN" sz="2000" b="1" u="sng" dirty="0">
              <a:latin typeface="Times New Roman" panose="02020603050405020304" pitchFamily="18" charset="0"/>
              <a:cs typeface="Times New Roman" panose="02020603050405020304" pitchFamily="18" charset="0"/>
            </a:endParaRPr>
          </a:p>
          <a:p>
            <a:pPr marL="0" indent="0" algn="ctr">
              <a:lnSpc>
                <a:spcPct val="100000"/>
              </a:lnSpc>
              <a:buNone/>
            </a:pPr>
            <a:endParaRPr lang="en-IN" sz="2000" b="1" u="sng" dirty="0">
              <a:latin typeface="Times New Roman" panose="02020603050405020304" pitchFamily="18" charset="0"/>
              <a:cs typeface="Times New Roman" panose="02020603050405020304" pitchFamily="18" charset="0"/>
            </a:endParaRPr>
          </a:p>
          <a:p>
            <a:pPr marL="0" indent="0" algn="ctr">
              <a:lnSpc>
                <a:spcPct val="100000"/>
              </a:lnSpc>
              <a:buNone/>
            </a:pPr>
            <a:endParaRPr lang="en-IN" sz="2000" b="1" u="sng" dirty="0">
              <a:latin typeface="Times New Roman" panose="02020603050405020304" pitchFamily="18" charset="0"/>
              <a:cs typeface="Times New Roman" panose="02020603050405020304" pitchFamily="18" charset="0"/>
            </a:endParaRPr>
          </a:p>
          <a:p>
            <a:pPr marL="0" indent="0" algn="ctr">
              <a:lnSpc>
                <a:spcPct val="100000"/>
              </a:lnSpc>
              <a:buNone/>
            </a:pPr>
            <a:endParaRPr lang="en-IN" sz="2000" b="1" u="sng" dirty="0">
              <a:latin typeface="Times New Roman" panose="02020603050405020304" pitchFamily="18" charset="0"/>
              <a:cs typeface="Times New Roman" panose="02020603050405020304" pitchFamily="18" charset="0"/>
            </a:endParaRPr>
          </a:p>
          <a:p>
            <a:pPr marL="0" indent="0" algn="ctr">
              <a:lnSpc>
                <a:spcPct val="100000"/>
              </a:lnSpc>
              <a:buNone/>
            </a:pPr>
            <a:endParaRPr lang="en-IN" sz="2000" b="1" u="sng" dirty="0">
              <a:latin typeface="Times New Roman" panose="02020603050405020304" pitchFamily="18" charset="0"/>
              <a:cs typeface="Times New Roman" panose="02020603050405020304" pitchFamily="18" charset="0"/>
            </a:endParaRPr>
          </a:p>
          <a:p>
            <a:pPr marL="0" indent="0" algn="ctr">
              <a:lnSpc>
                <a:spcPct val="100000"/>
              </a:lnSpc>
              <a:buNone/>
            </a:pPr>
            <a:r>
              <a:rPr lang="en-IN" sz="2000" b="1" u="sng" dirty="0">
                <a:latin typeface="Times New Roman" panose="02020603050405020304" pitchFamily="18" charset="0"/>
                <a:cs typeface="Times New Roman" panose="02020603050405020304" pitchFamily="18" charset="0"/>
              </a:rPr>
              <a:t>Thank You</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2729960"/>
      </p:ext>
    </p:extLst>
  </p:cSld>
  <p:clrMapOvr>
    <a:masterClrMapping/>
  </p:clrMapOvr>
  <mc:AlternateContent xmlns:mc="http://schemas.openxmlformats.org/markup-compatibility/2006" xmlns:p14="http://schemas.microsoft.com/office/powerpoint/2010/main">
    <mc:Choice Requires="p14">
      <p:transition spd="slow" p14:dur="2000" advTm="2202"/>
    </mc:Choice>
    <mc:Fallback xmlns="">
      <p:transition spd="slow" advTm="2202"/>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41325</TotalTime>
  <Words>2370</Words>
  <Application>Microsoft Office PowerPoint</Application>
  <PresentationFormat>Widescreen</PresentationFormat>
  <Paragraphs>196</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freight-text-pro</vt:lpstr>
      <vt:lpstr>Times New Roman</vt:lpstr>
      <vt:lpstr>Office Theme</vt:lpstr>
      <vt:lpstr>   Review on Ensemble techniques in Computer Vision for segmentation  by   PUNITH N Student ID : 1135354 Email : P.N@2024.ljmu.ac.uk</vt:lpstr>
      <vt:lpstr>Introduction and Background</vt:lpstr>
      <vt:lpstr>PowerPoint Presentation</vt:lpstr>
      <vt:lpstr> Experimental Setup:   Data Preparation: The ISLES'22 dataset undergoes pre-processing, including skull-stripping (as provided by source), and then dividing the data into respective Train/validate/Test sets. Training Protocol: We will establish detailed training procedures for both individual base models and their subsequent ensemble configurations. This involves carefully selecting appropriate loss functions (e.g., Dice loss, Focal loss, which are well-suited for imbalanced medical data), optimizers, and learning rates. Implementation: The study will leverage common deep learning frameworks, such as PyTorch or TensorFlow, along with relevant libraries for image processing and model development.  Evaluation and Results:   Evaluation Metrics: models and methods are evaluated using metrics used for medical segmentation. These includes the Lesion-wise F1-Score, Dice Score (DSC) and Absolute Volume Difference (AVD). Comparative Analysis: The performance of the ensemble models will be directly compared against each individual base model to quantify the improvement achieved through ensembling. Statistical Significance: Appropriate statistical tests will be applied to assess the significance of any observed performance differences.   </vt:lpstr>
      <vt:lpstr>Bagging.  Training the "Committee”: You don't want your experts to all have the exact same background, or they might all make the same mistake. So, you give them slightly different experiences.  The Data: Think of data as a big library of textbooks.  The "Experts": These are individual AI models.  The Training: Instead of giving every expert the entire library, you create a unique "reading list" for each one.</vt:lpstr>
      <vt:lpstr>Boosting is "Learning from Mistakes" Strategy  Imagine a team of students studying together for a difficult exam. Instead of studying independently, they work one after another, with each student focusing on the mistakes made by the one before them. This is the core idea of Boosting.  It's another "team-based" approach like Bagging, but the strategy is completely different.  How the Team Works (The Process)? This is a step-by-step, sequential process:</vt:lpstr>
      <vt:lpstr>Stacking (Stacked Generalization)</vt:lpstr>
      <vt:lpstr>Literature Review </vt:lpstr>
      <vt:lpstr>Recent Approaches in medical image Segmentation</vt:lpstr>
      <vt:lpstr>Recent Approaches in Image Segmentation</vt:lpstr>
      <vt:lpstr>Research methodology </vt:lpstr>
      <vt:lpstr>IMPLEMENTATION</vt:lpstr>
      <vt:lpstr>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Ensemble learning Discussion &amp; Results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Punith Nagaraju</dc:creator>
  <cp:lastModifiedBy>Punith Nagaraju</cp:lastModifiedBy>
  <cp:revision>1</cp:revision>
  <dcterms:created xsi:type="dcterms:W3CDTF">2024-12-02T11:49:29Z</dcterms:created>
  <dcterms:modified xsi:type="dcterms:W3CDTF">2026-02-14T14:50:31Z</dcterms:modified>
</cp:coreProperties>
</file>